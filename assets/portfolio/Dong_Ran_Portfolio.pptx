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董冉个人作品集。内容依据本人提供的材料、截图和现有在线作品集整理。作品截图沿用已提供数据，主要截至 2026 年 10 月 14 日，不视为实时数据。KOS 销售与内容总量为项目累计成果；BLUETTI 展示方案及参考视觉，不等同于全部现场实拍。点击各页按钮可查看作品。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董冉个人作品集。内容依据本人提供的材料、截图和现有在线作品集整理。作品截图沿用已提供数据，主要截至 2026 年 10 月 14 日，不视为实时数据。KOS 销售与内容总量为项目累计成果；BLUETTI 展示方案及参考视觉，不等同于全部现场实拍。点击各页按钮可查看作品。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董冉个人作品集。内容依据本人提供的材料、截图和现有在线作品集整理。作品截图沿用已提供数据，主要截至 2026 年 10 月 14 日，不视为实时数据。KOS 销售与内容总量为项目累计成果；BLUETTI 展示方案及参考视觉，不等同于全部现场实拍。点击各页按钮可查看作品。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董冉个人作品集。内容依据本人提供的材料、截图和现有在线作品集整理。作品截图沿用已提供数据，主要截至 2026 年 10 月 14 日，不视为实时数据。KOS 销售与内容总量为项目累计成果；BLUETTI 展示方案及参考视觉，不等同于全部现场实拍。点击各页按钮可查看作品。 OPPO 若星代表内容：本人负责选题、脚本、拍摄与发布，并参与出镜；剪辑由协作方完成。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董冉个人作品集。内容依据本人提供的材料、截图和现有在线作品集整理。作品截图沿用已提供数据，主要截至 2026 年 10 月 14 日，不视为实时数据。KOS 销售与内容总量为项目累计成果；BLUETTI 展示方案及参考视觉，不等同于全部现场实拍。点击各页按钮可查看作品。 OPPO 若星代表内容：本人负责选题、脚本、拍摄与发布，并参与出镜；剪辑由协作方完成。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董冉个人作品集。内容依据本人提供的材料、截图和现有在线作品集整理。作品截图沿用已提供数据，主要截至 2026 年 10 月 14 日，不视为实时数据。KOS 销售与内容总量为项目累计成果；BLUETTI 展示方案及参考视觉，不等同于全部现场实拍。点击各页按钮可查看作品。 OPPO 若星代表内容：本人负责选题、脚本、拍摄与发布，并参与出镜；剪辑由协作方完成。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董冉个人作品集。内容依据本人提供的材料、截图和现有在线作品集整理。作品截图沿用已提供数据，主要截至 2026 年 10 月 14 日，不视为实时数据。KOS 销售与内容总量为项目累计成果；BLUETTI 展示方案及参考视觉，不等同于全部现场实拍。点击各页按钮可查看作品。 OPPO 若星代表内容：本人负责选题、脚本、拍摄与发布，并参与出镜；剪辑由协作方完成。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董冉个人作品集。内容依据本人提供的材料、截图和现有在线作品集整理。作品截图沿用已提供数据，主要截至 2026 年 10 月 14 日，不视为实时数据。KOS 销售与内容总量为项目累计成果；BLUETTI 展示方案及参考视觉，不等同于全部现场实拍。点击各页按钮可查看作品。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董冉个人作品集。内容依据本人提供的材料、截图和现有在线作品集整理。作品截图沿用已提供数据，主要截至 2026 年 10 月 14 日，不视为实时数据。KOS 销售与内容总量为项目累计成果；BLUETTI 展示方案及参考视觉，不等同于全部现场实拍。点击各页按钮可查看作品。 KOS 代表作品：本人亲自参与拍摄及 Demo 制作为主，部分参与出镜。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董冉个人作品集。内容依据本人提供的材料、截图和现有在线作品集整理。作品截图沿用已提供数据，主要截至 2026 年 10 月 14 日，不视为实时数据。KOS 销售与内容总量为项目累计成果；BLUETTI 展示方案及参考视觉，不等同于全部现场实拍。点击各页按钮可查看作品。 KOS 代表作品：本人亲自参与拍摄及 Demo 制作为主，部分参与出镜。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董冉个人作品集。内容依据本人提供的材料、截图和现有在线作品集整理。作品截图沿用已提供数据，主要截至 2026 年 10 月 14 日，不视为实时数据。KOS 销售与内容总量为项目累计成果；BLUETTI 展示方案及参考视觉，不等同于全部现场实拍。点击各页按钮可查看作品。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董冉个人作品集。内容依据本人提供的材料、截图和现有在线作品集整理。作品截图沿用已提供数据，主要截至 2026 年 10 月 14 日，不视为实时数据。KOS 销售与内容总量为项目累计成果；BLUETTI 展示方案及参考视觉，不等同于全部现场实拍。点击各页按钮可查看作品。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董冉个人作品集。内容依据本人提供的材料、截图和现有在线作品集整理。作品截图沿用已提供数据，主要截至 2026 年 10 月 14 日，不视为实时数据。KOS 销售与内容总量为项目累计成果；BLUETTI 展示方案及参考视觉，不等同于全部现场实拍。点击各页按钮可查看作品。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董冉个人作品集。内容依据本人提供的材料、截图和现有在线作品集整理。作品截图沿用已提供数据，主要截至 2026 年 10 月 14 日，不视为实时数据。KOS 销售与内容总量为项目累计成果；BLUETTI 展示方案及参考视觉，不等同于全部现场实拍。点击各页按钮可查看作品。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董冉个人作品集。内容依据本人提供的材料、截图和现有在线作品集整理。作品截图沿用已提供数据，主要截至 2026 年 10 月 14 日，不视为实时数据。KOS 销售与内容总量为项目累计成果；BLUETTI 展示方案及参考视觉，不等同于全部现场实拍。点击各页按钮可查看作品。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董冉个人作品集。内容依据本人提供的材料、截图和现有在线作品集整理。作品截图沿用已提供数据，主要截至 2026 年 10 月 14 日，不视为实时数据。KOS 销售与内容总量为项目累计成果；BLUETTI 展示方案及参考视觉，不等同于全部现场实拍。点击各页按钮可查看作品。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董冉个人作品集。内容依据本人提供的材料、截图和现有在线作品集整理。作品截图沿用已提供数据，主要截至 2026 年 10 月 14 日，不视为实时数据。KOS 销售与内容总量为项目累计成果；BLUETTI 展示方案及参考视觉，不等同于全部现场实拍。点击各页按钮可查看作品。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董冉个人作品集。内容依据本人提供的材料、截图和现有在线作品集整理。作品截图沿用已提供数据，主要截至 2026 年 10 月 14 日，不视为实时数据。KOS 销售与内容总量为项目累计成果；BLUETTI 展示方案及参考视觉，不等同于全部现场实拍。点击各页按钮可查看作品。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董冉个人作品集。内容依据本人提供的材料、截图和现有在线作品集整理。作品截图沿用已提供数据，主要截至 2026 年 10 月 14 日，不视为实时数据。KOS 销售与内容总量为项目累计成果；BLUETTI 展示方案及参考视觉，不等同于全部现场实拍。点击各页按钮可查看作品。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anran.dongran0209.workers.dev/" TargetMode="External"/><Relationship Id="rId3" Type="http://schemas.openxmlformats.org/officeDocument/2006/relationships/image" Target="../media/image1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anran.dongran0209.workers.dev/" TargetMode="External"/><Relationship Id="rId3" Type="http://schemas.openxmlformats.org/officeDocument/2006/relationships/image" Target="../media/image2.jpg"/><Relationship Id="rId4" Type="http://schemas.openxmlformats.org/officeDocument/2006/relationships/hyperlink" Target="https://ranran.dongran0209.workers.dev/#project/ruoxing" TargetMode="External"/><Relationship Id="rId5" Type="http://schemas.openxmlformats.org/officeDocument/2006/relationships/hyperlink" Target="https://ranran.dongran0209.workers.dev/#project/kos" TargetMode="External"/><Relationship Id="rId6" Type="http://schemas.openxmlformats.org/officeDocument/2006/relationships/hyperlink" Target="https://ranran.dongran0209.workers.dev/#project/bluetti" TargetMode="External"/><Relationship Id="rId7" Type="http://schemas.openxmlformats.org/officeDocument/2006/relationships/hyperlink" Target="https://ranran.dongran0209.workers.dev/#project/social" TargetMode="External"/><Relationship Id="rId8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anran.dongran0209.workers.dev/" TargetMode="Externa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anran.dongran0209.workers.dev/" TargetMode="External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hyperlink" Target="https://xhslink.cn/o/AJzTc8QLzdb" TargetMode="External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anran.dongran0209.workers.dev/" TargetMode="External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Relationship Id="rId6" Type="http://schemas.openxmlformats.org/officeDocument/2006/relationships/image" Target="../media/image8.jpg"/><Relationship Id="rId7" Type="http://schemas.openxmlformats.org/officeDocument/2006/relationships/hyperlink" Target="https://xhslink.cn/o/9uxFhtiLivV" TargetMode="External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anran.dongran0209.workers.dev/" TargetMode="External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hyperlink" Target="https://v.douyin.com/lv2E-CNbn_I/" TargetMode="External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anran.dongran0209.workers.dev/" TargetMode="External"/><Relationship Id="rId3" Type="http://schemas.openxmlformats.org/officeDocument/2006/relationships/image" Target="../media/image11.jpg"/><Relationship Id="rId4" Type="http://schemas.openxmlformats.org/officeDocument/2006/relationships/image" Target="../media/image12.jpg"/><Relationship Id="rId5" Type="http://schemas.openxmlformats.org/officeDocument/2006/relationships/image" Target="../media/image13.jpg"/><Relationship Id="rId6" Type="http://schemas.openxmlformats.org/officeDocument/2006/relationships/image" Target="../media/image14.jpg"/><Relationship Id="rId7" Type="http://schemas.openxmlformats.org/officeDocument/2006/relationships/hyperlink" Target="https://v.douyin.com/XFTJzXr1aqA/" TargetMode="External"/><Relationship Id="rId8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anran.dongran0209.workers.dev/" TargetMode="Externa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anran.dongran0209.workers.dev/" TargetMode="External"/><Relationship Id="rId3" Type="http://schemas.openxmlformats.org/officeDocument/2006/relationships/image" Target="../media/image15.jpg"/><Relationship Id="rId4" Type="http://schemas.openxmlformats.org/officeDocument/2006/relationships/hyperlink" Target="https://v.douyin.com/WlZ_7tMX6RU/" TargetMode="External"/><Relationship Id="rId5" Type="http://schemas.openxmlformats.org/officeDocument/2006/relationships/image" Target="../media/image16.jpg"/><Relationship Id="rId6" Type="http://schemas.openxmlformats.org/officeDocument/2006/relationships/hyperlink" Target="https://v.douyin.com/PCTl_9mZtJs/" TargetMode="External"/><Relationship Id="rId7" Type="http://schemas.openxmlformats.org/officeDocument/2006/relationships/image" Target="../media/image17.jpg"/><Relationship Id="rId8" Type="http://schemas.openxmlformats.org/officeDocument/2006/relationships/hyperlink" Target="https://v.douyin.com/vMa2sfIVNlM/" TargetMode="External"/><Relationship Id="rId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anran.dongran0209.workers.dev/" TargetMode="External"/><Relationship Id="rId3" Type="http://schemas.openxmlformats.org/officeDocument/2006/relationships/image" Target="../media/image18.jpg"/><Relationship Id="rId4" Type="http://schemas.openxmlformats.org/officeDocument/2006/relationships/hyperlink" Target="https://v.douyin.com/gr4n-5PE0BU/" TargetMode="External"/><Relationship Id="rId5" Type="http://schemas.openxmlformats.org/officeDocument/2006/relationships/image" Target="../media/image19.jpg"/><Relationship Id="rId6" Type="http://schemas.openxmlformats.org/officeDocument/2006/relationships/hyperlink" Target="https://v.douyin.com/CnPd6RbirzM/" TargetMode="External"/><Relationship Id="rId7" Type="http://schemas.openxmlformats.org/officeDocument/2006/relationships/image" Target="../media/image20.jpg"/><Relationship Id="rId8" Type="http://schemas.openxmlformats.org/officeDocument/2006/relationships/hyperlink" Target="https://v.douyin.com/eSrhR1j8HW4/" TargetMode="External"/><Relationship Id="rId9" Type="http://schemas.openxmlformats.org/officeDocument/2006/relationships/image" Target="../media/image21.jpg"/><Relationship Id="rId10" Type="http://schemas.openxmlformats.org/officeDocument/2006/relationships/hyperlink" Target="https://v.douyin.com/028fJqcvXgQ/" TargetMode="External"/><Relationship Id="rId11" Type="http://schemas.openxmlformats.org/officeDocument/2006/relationships/image" Target="../media/image22.jpg"/><Relationship Id="rId12" Type="http://schemas.openxmlformats.org/officeDocument/2006/relationships/hyperlink" Target="https://v.douyin.com/m2UUWqwKAjw/" TargetMode="External"/><Relationship Id="rId1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anran.dongran0209.workers.dev/" TargetMode="Externa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anran.dongran0209.workers.dev/" TargetMode="Externa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anran.dongran0209.workers.dev/" TargetMode="Externa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anran.dongran0209.workers.dev/" TargetMode="External"/><Relationship Id="rId3" Type="http://schemas.openxmlformats.org/officeDocument/2006/relationships/image" Target="../media/image26.jpg"/><Relationship Id="rId4" Type="http://schemas.openxmlformats.org/officeDocument/2006/relationships/hyperlink" Target="https://xhslink.cn/o/1xFSeBY64YB" TargetMode="Externa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anran.dongran0209.workers.dev/" TargetMode="External"/><Relationship Id="rId3" Type="http://schemas.openxmlformats.org/officeDocument/2006/relationships/image" Target="../media/image27.jpg"/><Relationship Id="rId4" Type="http://schemas.openxmlformats.org/officeDocument/2006/relationships/hyperlink" Target="https://xhslink.cn/o/5JvQTIENYs7" TargetMode="External"/><Relationship Id="rId5" Type="http://schemas.openxmlformats.org/officeDocument/2006/relationships/image" Target="../media/image28.jpg"/><Relationship Id="rId6" Type="http://schemas.openxmlformats.org/officeDocument/2006/relationships/hyperlink" Target="https://xhslink.cn/o/SJYoBBMXYX" TargetMode="External"/><Relationship Id="rId7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anran.dongran0209.workers.dev/" TargetMode="External"/><Relationship Id="rId3" Type="http://schemas.openxmlformats.org/officeDocument/2006/relationships/image" Target="../media/image29.jpg"/><Relationship Id="rId4" Type="http://schemas.openxmlformats.org/officeDocument/2006/relationships/hyperlink" Target="https://xhslink.cn/o/36Pt6VAe673" TargetMode="External"/><Relationship Id="rId5" Type="http://schemas.openxmlformats.org/officeDocument/2006/relationships/image" Target="../media/image30.jpg"/><Relationship Id="rId6" Type="http://schemas.openxmlformats.org/officeDocument/2006/relationships/hyperlink" Target="https://xhslink.cn/o/A8w4YPuw35U" TargetMode="External"/><Relationship Id="rId7" Type="http://schemas.openxmlformats.org/officeDocument/2006/relationships/image" Target="../media/image31.jpg"/><Relationship Id="rId8" Type="http://schemas.openxmlformats.org/officeDocument/2006/relationships/hyperlink" Target="https://xhslink.cn/o/OAVYQcSxUk" TargetMode="External"/><Relationship Id="rId9" Type="http://schemas.openxmlformats.org/officeDocument/2006/relationships/image" Target="../media/image32.jpg"/><Relationship Id="rId10" Type="http://schemas.openxmlformats.org/officeDocument/2006/relationships/hyperlink" Target="https://xhslink.cn/o/3FLiX1xmS8h" TargetMode="External"/><Relationship Id="rId11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anran.dongran0209.workers.dev/" TargetMode="Externa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anran.dongran0209.workers.dev/" TargetMode="External"/><Relationship Id="rId3" Type="http://schemas.openxmlformats.org/officeDocument/2006/relationships/image" Target="../media/image33.jpg"/><Relationship Id="rId4" Type="http://schemas.openxmlformats.org/officeDocument/2006/relationships/image" Target="../media/image34.jpg"/><Relationship Id="rId5" Type="http://schemas.openxmlformats.org/officeDocument/2006/relationships/image" Target="../media/image35.jpg"/><Relationship Id="rId6" Type="http://schemas.openxmlformats.org/officeDocument/2006/relationships/hyperlink" Target="https://ranran.dongran0209.workers.dev/life.html" TargetMode="External"/><Relationship Id="rId7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anran.dongran0209.workers.dev/" TargetMode="External"/><Relationship Id="rId3" Type="http://schemas.openxmlformats.org/officeDocument/2006/relationships/hyperlink" Target="mailto:dongran2022@163.com" TargetMode="External"/><Relationship Id="rId4" Type="http://schemas.openxmlformats.org/officeDocument/2006/relationships/hyperlink" Target="tel:+8618375410209" TargetMode="External"/><Relationship Id="rId5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25"/>
              </a:spcAft>
              <a:defRPr sz="900" b="0">
                <a:solidFill>
                  <a:srgbClr val="AAB79D"/>
                </a:solidFill>
                <a:latin typeface="Noto Sans CJK SC"/>
              </a:defRPr>
            </a:pPr>
            <a:r>
              <a:rPr>
                <a:ea typeface="Noto Sans CJK SC"/>
              </a:rPr>
              <a:t>PORTFOLIO /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55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00"/>
              </a:spcAft>
              <a:defRPr sz="2800" b="0">
                <a:solidFill>
                  <a:srgbClr val="F8F7F0"/>
                </a:solidFill>
                <a:latin typeface="Noto Serif CJK SC"/>
              </a:defRPr>
            </a:pPr>
          </a:p>
        </p:txBody>
      </p:sp>
      <p:cxnSp>
        <p:nvCxnSpPr>
          <p:cNvPr id="4" name="Connector 3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526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02920" y="6574536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AAB79D"/>
                </a:solidFill>
                <a:latin typeface="Noto Sans CJK SC"/>
              </a:defRPr>
            </a:pPr>
            <a:r>
              <a:rPr>
                <a:ea typeface="Noto Sans CJK SC"/>
              </a:rPr>
              <a:t>董冉 / CONTENT &amp; STRATEGY</a:t>
            </a:r>
          </a:p>
        </p:txBody>
      </p:sp>
      <p:sp>
        <p:nvSpPr>
          <p:cNvPr id="6" name="TextBox 5">
            <a:hlinkClick r:id="rId2"/>
          </p:cNvPr>
          <p:cNvSpPr txBox="1"/>
          <p:nvPr/>
        </p:nvSpPr>
        <p:spPr>
          <a:xfrm>
            <a:off x="9390888" y="655624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AAB79D"/>
                </a:solidFill>
                <a:latin typeface="Noto Sans CJK SC"/>
              </a:defRPr>
            </a:pPr>
            <a:r>
              <a:rPr>
                <a:ea typeface="Noto Sans CJK SC"/>
              </a:rPr>
              <a:t>在线作品集 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55624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AAB79D"/>
                </a:solidFill>
                <a:latin typeface="Noto Sans CJK SC"/>
              </a:defRPr>
            </a:pPr>
            <a:r>
              <a:rPr>
                <a:ea typeface="Noto Sans CJK SC"/>
              </a:rPr>
              <a:t>01</a:t>
            </a:r>
          </a:p>
        </p:txBody>
      </p:sp>
      <p:pic>
        <p:nvPicPr>
          <p:cNvPr id="8" name="Picture 7" descr="blue-water.jpg"/>
          <p:cNvPicPr>
            <a:picLocks noChangeAspect="1"/>
          </p:cNvPicPr>
          <p:nvPr/>
        </p:nvPicPr>
        <p:blipFill>
          <a:blip r:embed="rId3"/>
          <a:srcRect t="2824" b="2824"/>
          <a:stretch>
            <a:fillRect/>
          </a:stretch>
        </p:blipFill>
        <p:spPr>
          <a:xfrm>
            <a:off x="0" y="0"/>
            <a:ext cx="12191695" cy="647395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94360" y="640080"/>
            <a:ext cx="5897880" cy="5212080"/>
          </a:xfrm>
          <a:prstGeom prst="rect">
            <a:avLst/>
          </a:prstGeom>
          <a:solidFill>
            <a:srgbClr val="153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996696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1250"/>
              </a:spcAft>
              <a:defRPr sz="5000" b="0">
                <a:solidFill>
                  <a:srgbClr val="F8F7F0"/>
                </a:solidFill>
                <a:latin typeface="Noto Serif CJK SC"/>
              </a:defRPr>
            </a:pPr>
            <a:r>
              <a:rPr>
                <a:ea typeface="Noto Serif CJK SC"/>
              </a:rPr>
              <a:t>董冉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093976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25"/>
              </a:spcAft>
              <a:defRPr sz="2100" b="0">
                <a:solidFill>
                  <a:srgbClr val="F8F7F0"/>
                </a:solidFill>
                <a:latin typeface="Noto Sans CJK SC"/>
              </a:defRPr>
            </a:pPr>
            <a:r>
              <a:rPr>
                <a:ea typeface="Noto Sans CJK SC"/>
              </a:rPr>
              <a:t>内容策划 · 品牌传播 · 自媒体运营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953512"/>
            <a:ext cx="48920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50"/>
              </a:spcAft>
              <a:defRPr sz="2200" b="0">
                <a:solidFill>
                  <a:srgbClr val="F8F7F0"/>
                </a:solidFill>
                <a:latin typeface="Noto Serif CJK SC"/>
              </a:defRPr>
            </a:pPr>
            <a:r>
              <a:rPr>
                <a:ea typeface="Noto Serif CJK SC"/>
              </a:rPr>
              <a:t>把产品价值，讲成用户在意的故事。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4096512"/>
            <a:ext cx="49377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D7E2DE"/>
                </a:solidFill>
                <a:latin typeface="Noto Sans CJK SC"/>
              </a:defRPr>
            </a:pPr>
            <a:r>
              <a:rPr>
                <a:ea typeface="Noto Sans CJK SC"/>
              </a:rPr>
              <a:t>OPPO 若星 / 拍客 KOS / BLUETTI / 百万咕噜</a:t>
            </a:r>
          </a:p>
        </p:txBody>
      </p:sp>
      <p:sp>
        <p:nvSpPr>
          <p:cNvPr id="14" name="Rounded Rectangle 13">
            <a:hlinkClick r:id="rId2"/>
          </p:cNvPr>
          <p:cNvSpPr/>
          <p:nvPr/>
        </p:nvSpPr>
        <p:spPr>
          <a:xfrm>
            <a:off x="941832" y="4928616"/>
            <a:ext cx="2468880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>
            <a:hlinkClick r:id="rId2"/>
          </p:cNvPr>
          <p:cNvSpPr txBox="1"/>
          <p:nvPr/>
        </p:nvSpPr>
        <p:spPr>
          <a:xfrm>
            <a:off x="1051560" y="4978907"/>
            <a:ext cx="2267712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打开完整在线作品集 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24927" y="5047488"/>
            <a:ext cx="39319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25"/>
              </a:spcAft>
              <a:defRPr sz="2900" b="0">
                <a:solidFill>
                  <a:srgbClr val="F8F7F0"/>
                </a:solidFill>
                <a:latin typeface="Noto Serif CJK SC"/>
              </a:defRPr>
            </a:pPr>
            <a:r>
              <a:rPr>
                <a:ea typeface="Noto Serif CJK SC"/>
              </a:rPr>
              <a:t>DONG RAN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25"/>
              </a:spcAft>
              <a:defRPr sz="9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ABOUT / INDEX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55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00"/>
              </a:spcAft>
              <a:defRPr sz="28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关于我，也关于这份作品集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09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应届生 · 科技消费品牌内容策划与传播实践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CCD3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74536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董冉 / CONTENT &amp; STRATEGY</a:t>
            </a:r>
          </a:p>
        </p:txBody>
      </p:sp>
      <p:sp>
        <p:nvSpPr>
          <p:cNvPr id="7" name="TextBox 6">
            <a:hlinkClick r:id="rId2"/>
          </p:cNvPr>
          <p:cNvSpPr txBox="1"/>
          <p:nvPr/>
        </p:nvSpPr>
        <p:spPr>
          <a:xfrm>
            <a:off x="9390888" y="655624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在线作品集 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5624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02</a:t>
            </a:r>
          </a:p>
        </p:txBody>
      </p:sp>
      <p:pic>
        <p:nvPicPr>
          <p:cNvPr id="9" name="Picture 8" descr="dong-ran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122431"/>
            <a:ext cx="2240280" cy="298804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136392" y="19659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00"/>
              </a:spcAft>
              <a:defRPr sz="20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香港大学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2432304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25"/>
              </a:spcAft>
              <a:defRPr sz="13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政策经济哲学硕士 · 应届生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36392" y="29718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00"/>
              </a:spcAft>
              <a:defRPr sz="20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伯明翰大学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36392" y="3438144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25"/>
              </a:spcAft>
              <a:defRPr sz="13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会计与金融本科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36392" y="4133087"/>
            <a:ext cx="3474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00"/>
              </a:spcAft>
              <a:defRPr sz="16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我习惯把一个想法做完整：</a:t>
            </a:r>
          </a:p>
          <a:p>
            <a:pPr marL="0">
              <a:lnSpc>
                <a:spcPct val="120000"/>
              </a:lnSpc>
              <a:spcAft>
                <a:spcPts val="400"/>
              </a:spcAft>
              <a:defRPr sz="16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先找到用户在意的事，再把它拍出来、</a:t>
            </a:r>
          </a:p>
          <a:p>
            <a:pPr marL="0">
              <a:lnSpc>
                <a:spcPct val="120000"/>
              </a:lnSpc>
              <a:spcAft>
                <a:spcPts val="400"/>
              </a:spcAft>
              <a:defRPr sz="16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发出去，最后回到反馈里继续调整。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78040" y="1965960"/>
            <a:ext cx="4389119" cy="0"/>
          </a:xfrm>
          <a:prstGeom prst="line">
            <a:avLst/>
          </a:prstGeom>
          <a:ln w="8890">
            <a:solidFill>
              <a:srgbClr val="CCD3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78040" y="2075688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50"/>
              </a:spcAft>
              <a:defRPr sz="18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01  OPPO 若星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8040" y="246888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87"/>
              </a:spcAft>
              <a:defRPr sz="11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人设与栏目 / 内容策划 / 用户互动</a:t>
            </a:r>
          </a:p>
        </p:txBody>
      </p:sp>
      <p:sp>
        <p:nvSpPr>
          <p:cNvPr id="18" name="Rounded Rectangle 17">
            <a:hlinkClick r:id="rId4"/>
          </p:cNvPr>
          <p:cNvSpPr/>
          <p:nvPr/>
        </p:nvSpPr>
        <p:spPr>
          <a:xfrm>
            <a:off x="10405872" y="2157984"/>
            <a:ext cx="1115568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>
            <a:hlinkClick r:id="rId4"/>
          </p:cNvPr>
          <p:cNvSpPr txBox="1"/>
          <p:nvPr/>
        </p:nvSpPr>
        <p:spPr>
          <a:xfrm>
            <a:off x="10515600" y="2208276"/>
            <a:ext cx="9144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在线查看 ↗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178040" y="2898648"/>
            <a:ext cx="4389119" cy="0"/>
          </a:xfrm>
          <a:prstGeom prst="line">
            <a:avLst/>
          </a:prstGeom>
          <a:ln w="8890">
            <a:solidFill>
              <a:srgbClr val="CCD3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178040" y="3008376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50"/>
              </a:spcAft>
              <a:defRPr sz="18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02  拍客 KOS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3401568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87"/>
              </a:spcAft>
              <a:defRPr sz="11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产品场景化 / Demo / 导购赋能</a:t>
            </a:r>
          </a:p>
        </p:txBody>
      </p:sp>
      <p:sp>
        <p:nvSpPr>
          <p:cNvPr id="23" name="Rounded Rectangle 22">
            <a:hlinkClick r:id="rId5"/>
          </p:cNvPr>
          <p:cNvSpPr/>
          <p:nvPr/>
        </p:nvSpPr>
        <p:spPr>
          <a:xfrm>
            <a:off x="10405872" y="3090672"/>
            <a:ext cx="1115568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>
            <a:hlinkClick r:id="rId5"/>
          </p:cNvPr>
          <p:cNvSpPr txBox="1"/>
          <p:nvPr/>
        </p:nvSpPr>
        <p:spPr>
          <a:xfrm>
            <a:off x="10515600" y="3140964"/>
            <a:ext cx="9144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在线查看 ↗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178040" y="3831335"/>
            <a:ext cx="4389119" cy="0"/>
          </a:xfrm>
          <a:prstGeom prst="line">
            <a:avLst/>
          </a:prstGeom>
          <a:ln w="8890">
            <a:solidFill>
              <a:srgbClr val="CCD3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178040" y="3941063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50"/>
              </a:spcAft>
              <a:defRPr sz="18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03  BLUETTI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4334255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87"/>
              </a:spcAft>
              <a:defRPr sz="11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海外传播 / 达人合作 / 线下展陈</a:t>
            </a:r>
          </a:p>
        </p:txBody>
      </p:sp>
      <p:sp>
        <p:nvSpPr>
          <p:cNvPr id="28" name="Rounded Rectangle 27">
            <a:hlinkClick r:id="rId6"/>
          </p:cNvPr>
          <p:cNvSpPr/>
          <p:nvPr/>
        </p:nvSpPr>
        <p:spPr>
          <a:xfrm>
            <a:off x="10405872" y="4023359"/>
            <a:ext cx="1115568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>
            <a:hlinkClick r:id="rId6"/>
          </p:cNvPr>
          <p:cNvSpPr txBox="1"/>
          <p:nvPr/>
        </p:nvSpPr>
        <p:spPr>
          <a:xfrm>
            <a:off x="10515600" y="4073651"/>
            <a:ext cx="9144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在线查看 ↗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178040" y="4764024"/>
            <a:ext cx="4389119" cy="0"/>
          </a:xfrm>
          <a:prstGeom prst="line">
            <a:avLst/>
          </a:prstGeom>
          <a:ln w="8890">
            <a:solidFill>
              <a:srgbClr val="CCD3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178040" y="4873752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50"/>
              </a:spcAft>
              <a:defRPr sz="18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04  百万咕噜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5266944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87"/>
              </a:spcAft>
              <a:defRPr sz="11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独立创作 / 内容测试 / 账号增长</a:t>
            </a:r>
          </a:p>
        </p:txBody>
      </p:sp>
      <p:sp>
        <p:nvSpPr>
          <p:cNvPr id="33" name="Rounded Rectangle 32">
            <a:hlinkClick r:id="rId7"/>
          </p:cNvPr>
          <p:cNvSpPr/>
          <p:nvPr/>
        </p:nvSpPr>
        <p:spPr>
          <a:xfrm>
            <a:off x="10405872" y="4956048"/>
            <a:ext cx="1115568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>
            <a:hlinkClick r:id="rId7"/>
          </p:cNvPr>
          <p:cNvSpPr txBox="1"/>
          <p:nvPr/>
        </p:nvSpPr>
        <p:spPr>
          <a:xfrm>
            <a:off x="10515600" y="5006340"/>
            <a:ext cx="914400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在线查看 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615391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截图与数据沿用已提供材料（2026.10），原平台数据以链接为准。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25"/>
              </a:spcAft>
              <a:defRPr sz="9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01 / OPPO 若星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55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00"/>
              </a:spcAft>
              <a:defRPr sz="28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让产品经理，成为用户愿意关注的人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09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营销策划实习 · 2026.08—至今｜围绕 Reno 新品节点，参与矩阵账号策划与运营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CCD3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74536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董冉 / CONTENT &amp; STRATEGY</a:t>
            </a:r>
          </a:p>
        </p:txBody>
      </p:sp>
      <p:sp>
        <p:nvSpPr>
          <p:cNvPr id="7" name="TextBox 6">
            <a:hlinkClick r:id="rId2"/>
          </p:cNvPr>
          <p:cNvSpPr txBox="1"/>
          <p:nvPr/>
        </p:nvSpPr>
        <p:spPr>
          <a:xfrm>
            <a:off x="9390888" y="655624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在线作品集 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5624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38528"/>
            <a:ext cx="107899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625"/>
              </a:spcAft>
              <a:defRPr sz="25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“懂产品，也懂女大”的产品经理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9748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50"/>
              </a:spcAft>
              <a:defRPr sz="14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把参数说明变成具体玩法，把品牌信息放进真实日常。以 4+1 栏目连接新品、功能、人设与用户共创。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3547872"/>
            <a:ext cx="2066543" cy="2148840"/>
          </a:xfrm>
          <a:prstGeom prst="rect">
            <a:avLst/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3675887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50"/>
              </a:spcAft>
              <a:defRPr sz="1400" b="0">
                <a:solidFill>
                  <a:srgbClr val="819368"/>
                </a:solidFill>
                <a:latin typeface="Noto Sans CJK SC"/>
              </a:defRPr>
            </a:pPr>
            <a:r>
              <a:rPr>
                <a:ea typeface="Noto Sans CJK SC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4133087"/>
            <a:ext cx="1792224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25"/>
              </a:spcAft>
              <a:defRPr sz="17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Reno新品速递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4892040"/>
            <a:ext cx="1792224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猜谜爆料与特色开箱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34640" y="3547872"/>
            <a:ext cx="2066543" cy="2148840"/>
          </a:xfrm>
          <a:prstGeom prst="rect">
            <a:avLst/>
          </a:prstGeom>
          <a:solidFill>
            <a:srgbClr val="F5F4EF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0944" y="3675887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50"/>
              </a:spcAft>
              <a:defRPr sz="1400" b="0">
                <a:solidFill>
                  <a:srgbClr val="819368"/>
                </a:solidFill>
                <a:latin typeface="Noto Sans CJK SC"/>
              </a:defRPr>
            </a:pPr>
            <a:r>
              <a:rPr>
                <a:ea typeface="Noto Sans CJK S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80944" y="4133087"/>
            <a:ext cx="1792224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25"/>
              </a:spcAft>
              <a:defRPr sz="17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Reno潮玩百宝箱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80944" y="4892040"/>
            <a:ext cx="1792224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影像、小O屏、互联玩法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4920" y="3547872"/>
            <a:ext cx="2066543" cy="2148840"/>
          </a:xfrm>
          <a:prstGeom prst="rect">
            <a:avLst/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21224" y="3675887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50"/>
              </a:spcAft>
              <a:defRPr sz="1400" b="0">
                <a:solidFill>
                  <a:srgbClr val="819368"/>
                </a:solidFill>
                <a:latin typeface="Noto Sans CJK SC"/>
              </a:defRPr>
            </a:pPr>
            <a:r>
              <a:rPr>
                <a:ea typeface="Noto Sans CJK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21224" y="4133087"/>
            <a:ext cx="1792224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25"/>
              </a:spcAft>
              <a:defRPr sz="17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星’s Vlog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21224" y="4892040"/>
            <a:ext cx="1792224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真实打工与出差日常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0" y="3547872"/>
            <a:ext cx="2066543" cy="2148840"/>
          </a:xfrm>
          <a:prstGeom prst="rect">
            <a:avLst/>
          </a:prstGeom>
          <a:solidFill>
            <a:srgbClr val="F5F4EF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61504" y="3675887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50"/>
              </a:spcAft>
              <a:defRPr sz="1400" b="0">
                <a:solidFill>
                  <a:srgbClr val="819368"/>
                </a:solidFill>
                <a:latin typeface="Noto Sans CJK SC"/>
              </a:defRPr>
            </a:pPr>
            <a:r>
              <a:rPr>
                <a:ea typeface="Noto Sans CJK SC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61504" y="4133087"/>
            <a:ext cx="1792224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25"/>
              </a:spcAft>
              <a:defRPr sz="17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Reno合伙人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61504" y="4892040"/>
            <a:ext cx="1792224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品牌 × 用户 × 圈层共创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55480" y="3547872"/>
            <a:ext cx="2066543" cy="2148840"/>
          </a:xfrm>
          <a:prstGeom prst="rect">
            <a:avLst/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01784" y="3675887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50"/>
              </a:spcAft>
              <a:defRPr sz="1400" b="0">
                <a:solidFill>
                  <a:srgbClr val="819368"/>
                </a:solidFill>
                <a:latin typeface="Noto Sans CJK SC"/>
              </a:defRPr>
            </a:pPr>
            <a:r>
              <a:rPr>
                <a:ea typeface="Noto Sans CJK SC"/>
              </a:rPr>
              <a:t>+1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01784" y="4133087"/>
            <a:ext cx="1792224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25"/>
              </a:spcAft>
              <a:defRPr sz="17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若星福利派送日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01784" y="4892040"/>
            <a:ext cx="1792224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互动榜与照片交换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600760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我的参与：选题、脚本、拍摄与发布，并参与出镜；剪辑由协作方完成。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25"/>
              </a:spcAft>
              <a:defRPr sz="9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01 / OPPO 若星 · 实况热点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55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00"/>
              </a:spcAft>
              <a:defRPr sz="28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从全网热议，找到品牌的内容入口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09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代表作品 01｜全网讨论！！OPPO 实况发力了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CCD3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74536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董冉 / CONTENT &amp; STRATEGY</a:t>
            </a:r>
          </a:p>
        </p:txBody>
      </p:sp>
      <p:sp>
        <p:nvSpPr>
          <p:cNvPr id="7" name="TextBox 6">
            <a:hlinkClick r:id="rId2"/>
          </p:cNvPr>
          <p:cNvSpPr txBox="1"/>
          <p:nvPr/>
        </p:nvSpPr>
        <p:spPr>
          <a:xfrm>
            <a:off x="9390888" y="655624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在线作品集 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5624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04</a:t>
            </a:r>
          </a:p>
        </p:txBody>
      </p:sp>
      <p:pic>
        <p:nvPicPr>
          <p:cNvPr id="9" name="Picture 8" descr="image12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136648"/>
            <a:ext cx="2816352" cy="3755136"/>
          </a:xfrm>
          <a:prstGeom prst="rect">
            <a:avLst/>
          </a:prstGeom>
        </p:spPr>
      </p:pic>
      <p:pic>
        <p:nvPicPr>
          <p:cNvPr id="10" name="Picture 9" descr="image7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2463" y="2490516"/>
            <a:ext cx="2286000" cy="304739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37960" y="2029968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00"/>
              </a:spcAft>
              <a:defRPr sz="20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先判断热度，是否真的与产品有关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788920"/>
            <a:ext cx="493776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75"/>
              </a:spcAft>
              <a:defRPr sz="15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一条“废片”实况引起讨论，与 OPPO 既有的实况口碑高度相关。选择“全网讨论”作为开头，借真实体验引出产品能力。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4251960"/>
            <a:ext cx="91439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50"/>
              </a:spcAft>
              <a:defRPr sz="22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2.7W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4690872"/>
            <a:ext cx="91439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50"/>
              </a:spcAft>
              <a:defRPr sz="10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浏览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16368" y="4251960"/>
            <a:ext cx="91439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50"/>
              </a:spcAft>
              <a:defRPr sz="22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2754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16368" y="4690872"/>
            <a:ext cx="91439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50"/>
              </a:spcAft>
              <a:defRPr sz="10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94776" y="4251960"/>
            <a:ext cx="91439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50"/>
              </a:spcAft>
              <a:defRPr sz="22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500+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94776" y="4690872"/>
            <a:ext cx="91439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50"/>
              </a:spcAft>
              <a:defRPr sz="10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收藏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73184" y="4251960"/>
            <a:ext cx="91439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50"/>
              </a:spcAft>
              <a:defRPr sz="22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73184" y="4690872"/>
            <a:ext cx="91439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50"/>
              </a:spcAft>
              <a:defRPr sz="10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评论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1592" y="4251960"/>
            <a:ext cx="91439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50"/>
              </a:spcAft>
              <a:defRPr sz="22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65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51592" y="4690872"/>
            <a:ext cx="91439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50"/>
              </a:spcAft>
              <a:defRPr sz="10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转发</a:t>
            </a:r>
          </a:p>
        </p:txBody>
      </p:sp>
      <p:sp>
        <p:nvSpPr>
          <p:cNvPr id="23" name="Rounded Rectangle 22">
            <a:hlinkClick r:id="rId5"/>
          </p:cNvPr>
          <p:cNvSpPr/>
          <p:nvPr/>
        </p:nvSpPr>
        <p:spPr>
          <a:xfrm>
            <a:off x="6537960" y="5486400"/>
            <a:ext cx="2103120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>
            <a:hlinkClick r:id="rId5"/>
          </p:cNvPr>
          <p:cNvSpPr txBox="1"/>
          <p:nvPr/>
        </p:nvSpPr>
        <p:spPr>
          <a:xfrm>
            <a:off x="6647688" y="5536692"/>
            <a:ext cx="1901951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在小红书看成片 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153912"/>
            <a:ext cx="108813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25"/>
              </a:spcAft>
              <a:defRPr sz="9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左：账号成片封面；中：原热点。313.2W 赞属于原热点，不计入本账号成果。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25"/>
              </a:spcAft>
              <a:defRPr sz="9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01 / OPPO 若星 · 开学季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55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00"/>
              </a:spcAft>
              <a:defRPr sz="28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让设备互联，回答“怎么轻松自我提升”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09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代表作品 02｜开学季需求 × 互联功能 × 产品经理玩法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CCD3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74536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董冉 / CONTENT &amp; STRATEGY</a:t>
            </a:r>
          </a:p>
        </p:txBody>
      </p:sp>
      <p:sp>
        <p:nvSpPr>
          <p:cNvPr id="7" name="TextBox 6">
            <a:hlinkClick r:id="rId2"/>
          </p:cNvPr>
          <p:cNvSpPr txBox="1"/>
          <p:nvPr/>
        </p:nvSpPr>
        <p:spPr>
          <a:xfrm>
            <a:off x="9390888" y="655624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在线作品集 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5624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05</a:t>
            </a:r>
          </a:p>
        </p:txBody>
      </p:sp>
      <p:pic>
        <p:nvPicPr>
          <p:cNvPr id="9" name="Picture 8" descr="image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003" y="1947672"/>
            <a:ext cx="2317313" cy="31272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15721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成片封面</a:t>
            </a:r>
          </a:p>
        </p:txBody>
      </p:sp>
      <p:pic>
        <p:nvPicPr>
          <p:cNvPr id="11" name="Picture 10" descr="image8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3350" y="1947672"/>
            <a:ext cx="2345898" cy="312724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429000" y="515721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AIGC 开场</a:t>
            </a:r>
          </a:p>
        </p:txBody>
      </p:sp>
      <p:pic>
        <p:nvPicPr>
          <p:cNvPr id="13" name="Picture 12" descr="image9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8684" y="1947672"/>
            <a:ext cx="2344510" cy="31272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63640" y="515721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互联自拍演示</a:t>
            </a:r>
          </a:p>
        </p:txBody>
      </p:sp>
      <p:pic>
        <p:nvPicPr>
          <p:cNvPr id="15" name="Picture 14" descr="final-image10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3324" y="1947672"/>
            <a:ext cx="2344510" cy="31272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098280" y="5157216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实际出片效果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632704"/>
            <a:ext cx="7863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50"/>
              </a:spcAft>
              <a:defRPr sz="14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用开学季的话题进入 → 演示一个互联功能 → 展示实际效果，让“实用”也有参与感。</a:t>
            </a:r>
          </a:p>
        </p:txBody>
      </p:sp>
      <p:sp>
        <p:nvSpPr>
          <p:cNvPr id="18" name="Rounded Rectangle 17">
            <a:hlinkClick r:id="rId7"/>
          </p:cNvPr>
          <p:cNvSpPr/>
          <p:nvPr/>
        </p:nvSpPr>
        <p:spPr>
          <a:xfrm>
            <a:off x="9171432" y="5623560"/>
            <a:ext cx="2331720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>
            <a:hlinkClick r:id="rId7"/>
          </p:cNvPr>
          <p:cNvSpPr txBox="1"/>
          <p:nvPr/>
        </p:nvSpPr>
        <p:spPr>
          <a:xfrm>
            <a:off x="9281159" y="5673852"/>
            <a:ext cx="2130551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在小红书看成片 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25"/>
              </a:spcAft>
              <a:defRPr sz="9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01 / OPPO 若星 · 达人联动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55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00"/>
              </a:spcAft>
              <a:defRPr sz="28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从“离谱装备”到运动健康体验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09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代表作品 03｜拉宏桑联动 × OPPO Watch S2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CCD3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74536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董冉 / CONTENT &amp; STRATEGY</a:t>
            </a:r>
          </a:p>
        </p:txBody>
      </p:sp>
      <p:sp>
        <p:nvSpPr>
          <p:cNvPr id="7" name="TextBox 6">
            <a:hlinkClick r:id="rId2"/>
          </p:cNvPr>
          <p:cNvSpPr txBox="1"/>
          <p:nvPr/>
        </p:nvSpPr>
        <p:spPr>
          <a:xfrm>
            <a:off x="9390888" y="655624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在线作品集 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5624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06</a:t>
            </a:r>
          </a:p>
        </p:txBody>
      </p:sp>
      <p:pic>
        <p:nvPicPr>
          <p:cNvPr id="9" name="Picture 8" descr="image1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046732"/>
            <a:ext cx="2971800" cy="3962399"/>
          </a:xfrm>
          <a:prstGeom prst="rect">
            <a:avLst/>
          </a:prstGeom>
        </p:spPr>
      </p:pic>
      <p:pic>
        <p:nvPicPr>
          <p:cNvPr id="10" name="Picture 9" descr="image10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04487" y="2046732"/>
            <a:ext cx="2971800" cy="396239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5200" y="2057400"/>
            <a:ext cx="4251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25"/>
              </a:spcAft>
              <a:defRPr sz="21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让活动信息，有一个好玩的入口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944368"/>
            <a:ext cx="4114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75"/>
              </a:spcAft>
              <a:defRPr sz="15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以人物互动和装备反差吸引注意，再带出手表的运动健康功能。</a:t>
            </a:r>
          </a:p>
          <a:p>
            <a:pPr marL="0">
              <a:lnSpc>
                <a:spcPct val="120000"/>
              </a:lnSpc>
              <a:spcAft>
                <a:spcPts val="375"/>
              </a:spcAft>
              <a:defRPr sz="15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用图文承接组队与健身年卡权益，让内容和活动形成接力。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4572000"/>
            <a:ext cx="96469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50"/>
              </a:spcAft>
              <a:defRPr sz="22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4.5W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5010912"/>
            <a:ext cx="9646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50"/>
              </a:spcAft>
              <a:defRPr sz="10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浏览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3900" y="4572000"/>
            <a:ext cx="96469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50"/>
              </a:spcAft>
              <a:defRPr sz="22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2250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3900" y="5010912"/>
            <a:ext cx="9646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50"/>
              </a:spcAft>
              <a:defRPr sz="10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2600" y="4572000"/>
            <a:ext cx="96469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50"/>
              </a:spcAft>
              <a:defRPr sz="22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169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2600" y="5010912"/>
            <a:ext cx="9646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50"/>
              </a:spcAft>
              <a:defRPr sz="10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收藏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1300" y="4572000"/>
            <a:ext cx="96469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50"/>
              </a:spcAft>
              <a:defRPr sz="22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1300" y="5010912"/>
            <a:ext cx="96469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50"/>
              </a:spcAft>
              <a:defRPr sz="10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评论</a:t>
            </a:r>
          </a:p>
        </p:txBody>
      </p:sp>
      <p:sp>
        <p:nvSpPr>
          <p:cNvPr id="21" name="Rounded Rectangle 20">
            <a:hlinkClick r:id="rId5"/>
          </p:cNvPr>
          <p:cNvSpPr/>
          <p:nvPr/>
        </p:nvSpPr>
        <p:spPr>
          <a:xfrm>
            <a:off x="7315200" y="5669280"/>
            <a:ext cx="2103120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>
            <a:hlinkClick r:id="rId5"/>
          </p:cNvPr>
          <p:cNvSpPr txBox="1"/>
          <p:nvPr/>
        </p:nvSpPr>
        <p:spPr>
          <a:xfrm>
            <a:off x="7424927" y="5719572"/>
            <a:ext cx="1901951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在抖音看成片 ↗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25"/>
              </a:spcAft>
              <a:defRPr sz="9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01 / OPPO 若星 · UGC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55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00"/>
              </a:spcAft>
              <a:defRPr sz="28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让用户成为内容的一部分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09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代表作品 04｜用“夏日随手拍”的低门槛话题，邀请大家交换影像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CCD3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74536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董冉 / CONTENT &amp; STRATEGY</a:t>
            </a:r>
          </a:p>
        </p:txBody>
      </p:sp>
      <p:sp>
        <p:nvSpPr>
          <p:cNvPr id="7" name="TextBox 6">
            <a:hlinkClick r:id="rId2"/>
          </p:cNvPr>
          <p:cNvSpPr txBox="1"/>
          <p:nvPr/>
        </p:nvSpPr>
        <p:spPr>
          <a:xfrm>
            <a:off x="9390888" y="655624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在线作品集 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5624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07</a:t>
            </a:r>
          </a:p>
        </p:txBody>
      </p:sp>
      <p:pic>
        <p:nvPicPr>
          <p:cNvPr id="9" name="Picture 8" descr="image6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59" y="2034175"/>
            <a:ext cx="2743200" cy="3630896"/>
          </a:xfrm>
          <a:prstGeom prst="rect">
            <a:avLst/>
          </a:prstGeom>
        </p:spPr>
      </p:pic>
      <p:pic>
        <p:nvPicPr>
          <p:cNvPr id="10" name="Picture 9" descr="ugc-feedbac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7029" y="1938528"/>
            <a:ext cx="2361460" cy="3822191"/>
          </a:xfrm>
          <a:prstGeom prst="rect">
            <a:avLst/>
          </a:prstGeom>
        </p:spPr>
      </p:pic>
      <p:pic>
        <p:nvPicPr>
          <p:cNvPr id="11" name="Picture 10" descr="image4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2024988"/>
            <a:ext cx="2286000" cy="1015799"/>
          </a:xfrm>
          <a:prstGeom prst="rect">
            <a:avLst/>
          </a:prstGeom>
        </p:spPr>
      </p:pic>
      <p:pic>
        <p:nvPicPr>
          <p:cNvPr id="12" name="Picture 11" descr="image3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0" y="3435950"/>
            <a:ext cx="2286000" cy="115653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235440" y="2057400"/>
            <a:ext cx="23317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50"/>
              </a:spcAft>
              <a:defRPr sz="18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不同 Reno 用户，</a:t>
            </a:r>
          </a:p>
          <a:p>
            <a:pPr marL="0">
              <a:lnSpc>
                <a:spcPct val="120000"/>
              </a:lnSpc>
              <a:spcAft>
                <a:spcPts val="450"/>
              </a:spcAft>
              <a:defRPr sz="18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用自己的照片接上话题。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5029200"/>
            <a:ext cx="117043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50"/>
              </a:spcAft>
              <a:defRPr sz="22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3.1W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5468112"/>
            <a:ext cx="117043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50"/>
              </a:spcAft>
              <a:defRPr sz="10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浏览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5029200"/>
            <a:ext cx="117043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50"/>
              </a:spcAft>
              <a:defRPr sz="22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387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5468112"/>
            <a:ext cx="117043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50"/>
              </a:spcAft>
              <a:defRPr sz="10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赞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5029200"/>
            <a:ext cx="117043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50"/>
              </a:spcAft>
              <a:defRPr sz="22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5468112"/>
            <a:ext cx="117043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50"/>
              </a:spcAft>
              <a:defRPr sz="10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收藏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5029200"/>
            <a:ext cx="117043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50"/>
              </a:spcAft>
              <a:defRPr sz="22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139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5468112"/>
            <a:ext cx="117043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50"/>
              </a:spcAft>
              <a:defRPr sz="10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评论</a:t>
            </a:r>
          </a:p>
        </p:txBody>
      </p:sp>
      <p:sp>
        <p:nvSpPr>
          <p:cNvPr id="22" name="Rounded Rectangle 21">
            <a:hlinkClick r:id="rId7"/>
          </p:cNvPr>
          <p:cNvSpPr/>
          <p:nvPr/>
        </p:nvSpPr>
        <p:spPr>
          <a:xfrm>
            <a:off x="594360" y="5925312"/>
            <a:ext cx="2286000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>
            <a:hlinkClick r:id="rId7"/>
          </p:cNvPr>
          <p:cNvSpPr txBox="1"/>
          <p:nvPr/>
        </p:nvSpPr>
        <p:spPr>
          <a:xfrm>
            <a:off x="704088" y="5975604"/>
            <a:ext cx="2084831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在抖音查看作品 ↗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25"/>
              </a:spcAft>
              <a:defRPr sz="9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02 / 拍客科技 · OPPO KOS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55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00"/>
              </a:spcAft>
              <a:defRPr sz="28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把产品卖点，变成导购能照着拍的内容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09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整合营销实习 · 2026.04—2026.08｜OPPO 体验顾问 101 创造营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CCD3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74536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董冉 / CONTENT &amp; STRATEGY</a:t>
            </a:r>
          </a:p>
        </p:txBody>
      </p:sp>
      <p:sp>
        <p:nvSpPr>
          <p:cNvPr id="7" name="TextBox 6">
            <a:hlinkClick r:id="rId2"/>
          </p:cNvPr>
          <p:cNvSpPr txBox="1"/>
          <p:nvPr/>
        </p:nvSpPr>
        <p:spPr>
          <a:xfrm>
            <a:off x="9390888" y="655624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在线作品集 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5624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23317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25"/>
              </a:spcAft>
              <a:defRPr sz="29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200+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569464"/>
            <a:ext cx="2331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62"/>
              </a:spcAft>
              <a:defRPr sz="10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个人累计输出内容方案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011680"/>
            <a:ext cx="23317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25"/>
              </a:spcAft>
              <a:defRPr sz="29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569464"/>
            <a:ext cx="2331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62"/>
              </a:spcAft>
              <a:defRPr sz="10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覆盖营销节点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011680"/>
            <a:ext cx="23317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25"/>
              </a:spcAft>
              <a:defRPr sz="29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10+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569464"/>
            <a:ext cx="2331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62"/>
              </a:spcAft>
              <a:defRPr sz="10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沉淀爆款内容公式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2011680"/>
            <a:ext cx="23317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25"/>
              </a:spcAft>
              <a:defRPr sz="29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约 3W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2569464"/>
            <a:ext cx="23317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62"/>
              </a:spcAft>
              <a:defRPr sz="10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项目面向终端导购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4360" y="3246120"/>
            <a:ext cx="10972800" cy="0"/>
          </a:xfrm>
          <a:prstGeom prst="line">
            <a:avLst/>
          </a:prstGeom>
          <a:ln w="8890">
            <a:solidFill>
              <a:srgbClr val="CCD3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94360" y="3493008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25"/>
              </a:spcAft>
              <a:defRPr sz="21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项目整体成果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224528"/>
            <a:ext cx="1691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25"/>
              </a:spcAft>
              <a:defRPr sz="29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282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782312"/>
            <a:ext cx="16916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62"/>
              </a:spcAft>
              <a:defRPr sz="10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千赞内容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8879" y="4224528"/>
            <a:ext cx="1691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25"/>
              </a:spcAft>
              <a:defRPr sz="29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79" y="4782312"/>
            <a:ext cx="16916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62"/>
              </a:spcAft>
              <a:defRPr sz="10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万赞内容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4224528"/>
            <a:ext cx="1691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25"/>
              </a:spcAft>
              <a:defRPr sz="29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2160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400" y="4782312"/>
            <a:ext cx="16916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62"/>
              </a:spcAft>
              <a:defRPr sz="10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有效留资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4224528"/>
            <a:ext cx="1691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25"/>
              </a:spcAft>
              <a:defRPr sz="29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346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4782312"/>
            <a:ext cx="16916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62"/>
              </a:spcAft>
              <a:defRPr sz="10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成交台数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40" y="4224528"/>
            <a:ext cx="1691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25"/>
              </a:spcAft>
              <a:defRPr sz="29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16%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40" y="4782312"/>
            <a:ext cx="16916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62"/>
              </a:spcAft>
              <a:defRPr sz="10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留资成交率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4224528"/>
            <a:ext cx="1691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25"/>
              </a:spcAft>
              <a:defRPr sz="29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142W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0" y="4782312"/>
            <a:ext cx="16916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62"/>
              </a:spcAft>
              <a:defRPr sz="10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GMV / 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623560"/>
            <a:ext cx="108813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我的工作：洞察与选题 → 平台内容策略 → Demo 制作 → 任务下发 → 审核与复盘。</a:t>
            </a:r>
          </a:p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上方销售与内容汇总为项目累计结果；下一页展示本人参与制作的单条 Demo。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25"/>
              </a:spcAft>
              <a:defRPr sz="9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02 / 拍客 KOS · 代表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55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00"/>
              </a:spcAft>
              <a:defRPr sz="28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三个卖点，三种让人愿意看的表达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09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本人亲自参与拍摄及 Demo 制作，部分作品参与出镜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CCD3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74536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董冉 / CONTENT &amp; STRATEGY</a:t>
            </a:r>
          </a:p>
        </p:txBody>
      </p:sp>
      <p:sp>
        <p:nvSpPr>
          <p:cNvPr id="7" name="TextBox 6">
            <a:hlinkClick r:id="rId2"/>
          </p:cNvPr>
          <p:cNvSpPr txBox="1"/>
          <p:nvPr/>
        </p:nvSpPr>
        <p:spPr>
          <a:xfrm>
            <a:off x="9390888" y="655624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在线作品集 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5624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09</a:t>
            </a:r>
          </a:p>
        </p:txBody>
      </p:sp>
      <p:pic>
        <p:nvPicPr>
          <p:cNvPr id="9" name="Picture 8" descr="work-7-cle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088137"/>
            <a:ext cx="1691640" cy="295604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441448" y="2075688"/>
            <a:ext cx="1691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75"/>
              </a:spcAft>
              <a:defRPr sz="19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防水抗摔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2907792"/>
            <a:ext cx="1645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12"/>
              </a:spcAft>
              <a:defRPr sz="12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生活反差与对比混剪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4133087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675"/>
              </a:spcAft>
              <a:defRPr sz="2700" b="0">
                <a:solidFill>
                  <a:srgbClr val="819368"/>
                </a:solidFill>
                <a:latin typeface="Noto Sans CJK SC"/>
              </a:defRPr>
            </a:pPr>
            <a:r>
              <a:rPr>
                <a:ea typeface="Noto Sans CJK SC"/>
              </a:rPr>
              <a:t>8.9W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464515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赞</a:t>
            </a:r>
          </a:p>
        </p:txBody>
      </p:sp>
      <p:sp>
        <p:nvSpPr>
          <p:cNvPr id="14" name="Rounded Rectangle 13">
            <a:hlinkClick r:id="rId4"/>
          </p:cNvPr>
          <p:cNvSpPr/>
          <p:nvPr/>
        </p:nvSpPr>
        <p:spPr>
          <a:xfrm>
            <a:off x="594360" y="5577840"/>
            <a:ext cx="1901952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>
            <a:hlinkClick r:id="rId4"/>
          </p:cNvPr>
          <p:cNvSpPr txBox="1"/>
          <p:nvPr/>
        </p:nvSpPr>
        <p:spPr>
          <a:xfrm>
            <a:off x="704088" y="5628131"/>
            <a:ext cx="1700784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查看原视频 ↗</a:t>
            </a:r>
          </a:p>
        </p:txBody>
      </p:sp>
      <p:pic>
        <p:nvPicPr>
          <p:cNvPr id="16" name="Picture 15" descr="work-5-clea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6552" y="2088137"/>
            <a:ext cx="1691640" cy="295604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63640" y="2075688"/>
            <a:ext cx="1691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75"/>
              </a:spcAft>
              <a:defRPr sz="19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一充二十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907792"/>
            <a:ext cx="1645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12"/>
              </a:spcAft>
              <a:defRPr sz="12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把电池容量拍成视觉规模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133087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675"/>
              </a:spcAft>
              <a:defRPr sz="2700" b="0">
                <a:solidFill>
                  <a:srgbClr val="819368"/>
                </a:solidFill>
                <a:latin typeface="Noto Sans CJK SC"/>
              </a:defRPr>
            </a:pPr>
            <a:r>
              <a:rPr>
                <a:ea typeface="Noto Sans CJK SC"/>
              </a:rPr>
              <a:t>2.1W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64515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赞</a:t>
            </a:r>
          </a:p>
        </p:txBody>
      </p:sp>
      <p:sp>
        <p:nvSpPr>
          <p:cNvPr id="21" name="Rounded Rectangle 20">
            <a:hlinkClick r:id="rId6"/>
          </p:cNvPr>
          <p:cNvSpPr/>
          <p:nvPr/>
        </p:nvSpPr>
        <p:spPr>
          <a:xfrm>
            <a:off x="4416552" y="5577840"/>
            <a:ext cx="1901952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>
            <a:hlinkClick r:id="rId6"/>
          </p:cNvPr>
          <p:cNvSpPr txBox="1"/>
          <p:nvPr/>
        </p:nvSpPr>
        <p:spPr>
          <a:xfrm>
            <a:off x="4526280" y="5628131"/>
            <a:ext cx="1700784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查看原视频 ↗</a:t>
            </a:r>
          </a:p>
        </p:txBody>
      </p:sp>
      <p:pic>
        <p:nvPicPr>
          <p:cNvPr id="23" name="Picture 22" descr="work-1-clean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8744" y="2088137"/>
            <a:ext cx="1691640" cy="295604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0085832" y="2075688"/>
            <a:ext cx="169164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75"/>
              </a:spcAft>
              <a:defRPr sz="19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小O屏 × 月薪猫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85832" y="2907792"/>
            <a:ext cx="1645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12"/>
              </a:spcAft>
              <a:defRPr sz="12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热门形象与 BGM 进入产品场景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85832" y="4133087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675"/>
              </a:spcAft>
              <a:defRPr sz="2700" b="0">
                <a:solidFill>
                  <a:srgbClr val="819368"/>
                </a:solidFill>
                <a:latin typeface="Noto Sans CJK SC"/>
              </a:defRPr>
            </a:pPr>
            <a:r>
              <a:rPr>
                <a:ea typeface="Noto Sans CJK SC"/>
              </a:rPr>
              <a:t>2.2W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85832" y="4645152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赞</a:t>
            </a:r>
          </a:p>
        </p:txBody>
      </p:sp>
      <p:sp>
        <p:nvSpPr>
          <p:cNvPr id="28" name="Rounded Rectangle 27">
            <a:hlinkClick r:id="rId8"/>
          </p:cNvPr>
          <p:cNvSpPr/>
          <p:nvPr/>
        </p:nvSpPr>
        <p:spPr>
          <a:xfrm>
            <a:off x="8238744" y="5577840"/>
            <a:ext cx="1901952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>
            <a:hlinkClick r:id="rId8"/>
          </p:cNvPr>
          <p:cNvSpPr txBox="1"/>
          <p:nvPr/>
        </p:nvSpPr>
        <p:spPr>
          <a:xfrm>
            <a:off x="8348471" y="5628131"/>
            <a:ext cx="1700784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查看原视频 ↗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25"/>
              </a:spcAft>
              <a:defRPr sz="9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02 / 拍客 KOS · 代表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55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00"/>
              </a:spcAft>
              <a:defRPr sz="28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热点可以借，产品场景要具体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09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同一套方法，延展到 AI 防诈、外观新色、耐用与门店日常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CCD3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74536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董冉 / CONTENT &amp; STRATEGY</a:t>
            </a:r>
          </a:p>
        </p:txBody>
      </p:sp>
      <p:sp>
        <p:nvSpPr>
          <p:cNvPr id="7" name="TextBox 6">
            <a:hlinkClick r:id="rId2"/>
          </p:cNvPr>
          <p:cNvSpPr txBox="1"/>
          <p:nvPr/>
        </p:nvSpPr>
        <p:spPr>
          <a:xfrm>
            <a:off x="9390888" y="655624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在线作品集 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5624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10</a:t>
            </a:r>
          </a:p>
        </p:txBody>
      </p:sp>
      <p:pic>
        <p:nvPicPr>
          <p:cNvPr id="9" name="Picture 8" descr="work-8-cle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667" y="1975104"/>
            <a:ext cx="1491344" cy="26060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4718304"/>
            <a:ext cx="198424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25"/>
              </a:spcAft>
              <a:defRPr sz="13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“倒倒倒” × AI 防诈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330952"/>
            <a:ext cx="1984248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00"/>
              </a:spcAft>
              <a:defRPr sz="1600" b="0">
                <a:solidFill>
                  <a:srgbClr val="819368"/>
                </a:solidFill>
                <a:latin typeface="Noto Sans CJK SC"/>
              </a:defRPr>
            </a:pPr>
            <a:r>
              <a:rPr>
                <a:ea typeface="Noto Sans CJK SC"/>
              </a:rPr>
              <a:t>6065 赞</a:t>
            </a:r>
          </a:p>
        </p:txBody>
      </p:sp>
      <p:sp>
        <p:nvSpPr>
          <p:cNvPr id="12" name="Rounded Rectangle 11">
            <a:hlinkClick r:id="rId4"/>
          </p:cNvPr>
          <p:cNvSpPr/>
          <p:nvPr/>
        </p:nvSpPr>
        <p:spPr>
          <a:xfrm>
            <a:off x="594360" y="5833872"/>
            <a:ext cx="1508760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>
            <a:hlinkClick r:id="rId4"/>
          </p:cNvPr>
          <p:cNvSpPr txBox="1"/>
          <p:nvPr/>
        </p:nvSpPr>
        <p:spPr>
          <a:xfrm>
            <a:off x="704088" y="5884164"/>
            <a:ext cx="1307592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查看作品 ↗</a:t>
            </a:r>
          </a:p>
        </p:txBody>
      </p:sp>
      <p:pic>
        <p:nvPicPr>
          <p:cNvPr id="14" name="Picture 13" descr="work-6-clea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9379" y="1975104"/>
            <a:ext cx="1491344" cy="26060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862072" y="4718304"/>
            <a:ext cx="198424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25"/>
              </a:spcAft>
              <a:defRPr sz="13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新色与那片海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62072" y="5330952"/>
            <a:ext cx="1984248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00"/>
              </a:spcAft>
              <a:defRPr sz="1600" b="0">
                <a:solidFill>
                  <a:srgbClr val="819368"/>
                </a:solidFill>
                <a:latin typeface="Noto Sans CJK SC"/>
              </a:defRPr>
            </a:pPr>
            <a:r>
              <a:rPr>
                <a:ea typeface="Noto Sans CJK SC"/>
              </a:rPr>
              <a:t>1272 赞</a:t>
            </a:r>
          </a:p>
        </p:txBody>
      </p:sp>
      <p:sp>
        <p:nvSpPr>
          <p:cNvPr id="17" name="Rounded Rectangle 16">
            <a:hlinkClick r:id="rId6"/>
          </p:cNvPr>
          <p:cNvSpPr/>
          <p:nvPr/>
        </p:nvSpPr>
        <p:spPr>
          <a:xfrm>
            <a:off x="2862072" y="5833872"/>
            <a:ext cx="1508760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>
            <a:hlinkClick r:id="rId6"/>
          </p:cNvPr>
          <p:cNvSpPr txBox="1"/>
          <p:nvPr/>
        </p:nvSpPr>
        <p:spPr>
          <a:xfrm>
            <a:off x="2971800" y="5884164"/>
            <a:ext cx="1307592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查看作品 ↗</a:t>
            </a:r>
          </a:p>
        </p:txBody>
      </p:sp>
      <p:pic>
        <p:nvPicPr>
          <p:cNvPr id="19" name="Picture 18" descr="work-4-clean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67091" y="1975104"/>
            <a:ext cx="1491344" cy="260604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129784" y="4718304"/>
            <a:ext cx="198424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25"/>
              </a:spcAft>
              <a:defRPr sz="13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日常手滑 × 抗摔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9784" y="5330952"/>
            <a:ext cx="1984248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00"/>
              </a:spcAft>
              <a:defRPr sz="1600" b="0">
                <a:solidFill>
                  <a:srgbClr val="819368"/>
                </a:solidFill>
                <a:latin typeface="Noto Sans CJK SC"/>
              </a:defRPr>
            </a:pPr>
            <a:r>
              <a:rPr>
                <a:ea typeface="Noto Sans CJK SC"/>
              </a:rPr>
              <a:t>1623 赞</a:t>
            </a:r>
          </a:p>
        </p:txBody>
      </p:sp>
      <p:sp>
        <p:nvSpPr>
          <p:cNvPr id="22" name="Rounded Rectangle 21">
            <a:hlinkClick r:id="rId8"/>
          </p:cNvPr>
          <p:cNvSpPr/>
          <p:nvPr/>
        </p:nvSpPr>
        <p:spPr>
          <a:xfrm>
            <a:off x="5129784" y="5833872"/>
            <a:ext cx="1508760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>
            <a:hlinkClick r:id="rId8"/>
          </p:cNvPr>
          <p:cNvSpPr txBox="1"/>
          <p:nvPr/>
        </p:nvSpPr>
        <p:spPr>
          <a:xfrm>
            <a:off x="5239512" y="5884164"/>
            <a:ext cx="1307592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查看作品 ↗</a:t>
            </a:r>
          </a:p>
        </p:txBody>
      </p:sp>
      <p:pic>
        <p:nvPicPr>
          <p:cNvPr id="24" name="Picture 23" descr="work-3-clean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34803" y="1975104"/>
            <a:ext cx="1491344" cy="26060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397496" y="4718304"/>
            <a:ext cx="198424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25"/>
              </a:spcAft>
              <a:defRPr sz="13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手势舞 × 青春补给包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97496" y="5330952"/>
            <a:ext cx="1984248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00"/>
              </a:spcAft>
              <a:defRPr sz="1600" b="0">
                <a:solidFill>
                  <a:srgbClr val="819368"/>
                </a:solidFill>
                <a:latin typeface="Noto Sans CJK SC"/>
              </a:defRPr>
            </a:pPr>
            <a:r>
              <a:rPr>
                <a:ea typeface="Noto Sans CJK SC"/>
              </a:rPr>
              <a:t>1125 赞</a:t>
            </a:r>
          </a:p>
        </p:txBody>
      </p:sp>
      <p:sp>
        <p:nvSpPr>
          <p:cNvPr id="27" name="Rounded Rectangle 26">
            <a:hlinkClick r:id="rId10"/>
          </p:cNvPr>
          <p:cNvSpPr/>
          <p:nvPr/>
        </p:nvSpPr>
        <p:spPr>
          <a:xfrm>
            <a:off x="7397496" y="5833872"/>
            <a:ext cx="1508760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>
            <a:hlinkClick r:id="rId10"/>
          </p:cNvPr>
          <p:cNvSpPr txBox="1"/>
          <p:nvPr/>
        </p:nvSpPr>
        <p:spPr>
          <a:xfrm>
            <a:off x="7507223" y="5884164"/>
            <a:ext cx="1307592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查看作品 ↗</a:t>
            </a:r>
          </a:p>
        </p:txBody>
      </p:sp>
      <p:pic>
        <p:nvPicPr>
          <p:cNvPr id="29" name="Picture 28" descr="work-2-clean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902515" y="1975104"/>
            <a:ext cx="1491344" cy="260604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665208" y="4718304"/>
            <a:ext cx="198424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25"/>
              </a:spcAft>
              <a:defRPr sz="13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情绪文案 × 门店日常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5208" y="5330952"/>
            <a:ext cx="1984248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00"/>
              </a:spcAft>
              <a:defRPr sz="1600" b="0">
                <a:solidFill>
                  <a:srgbClr val="819368"/>
                </a:solidFill>
                <a:latin typeface="Noto Sans CJK SC"/>
              </a:defRPr>
            </a:pPr>
            <a:r>
              <a:rPr>
                <a:ea typeface="Noto Sans CJK SC"/>
              </a:rPr>
              <a:t>1238 赞</a:t>
            </a:r>
          </a:p>
        </p:txBody>
      </p:sp>
      <p:sp>
        <p:nvSpPr>
          <p:cNvPr id="32" name="Rounded Rectangle 31">
            <a:hlinkClick r:id="rId12"/>
          </p:cNvPr>
          <p:cNvSpPr/>
          <p:nvPr/>
        </p:nvSpPr>
        <p:spPr>
          <a:xfrm>
            <a:off x="9665208" y="5833872"/>
            <a:ext cx="1508760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>
            <a:hlinkClick r:id="rId12"/>
          </p:cNvPr>
          <p:cNvSpPr txBox="1"/>
          <p:nvPr/>
        </p:nvSpPr>
        <p:spPr>
          <a:xfrm>
            <a:off x="9774936" y="5884164"/>
            <a:ext cx="1307592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查看作品 ↗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25"/>
              </a:spcAft>
              <a:defRPr sz="9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02 / 拍客 KOS · 工作方法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55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00"/>
              </a:spcAft>
              <a:defRPr sz="28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创意下发之前，先让它真正可执行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09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从一条可参考的 Demo，到门店可以照着完成的任务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CCD3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74536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董冉 / CONTENT &amp; STRATEGY</a:t>
            </a:r>
          </a:p>
        </p:txBody>
      </p:sp>
      <p:sp>
        <p:nvSpPr>
          <p:cNvPr id="7" name="TextBox 6">
            <a:hlinkClick r:id="rId2"/>
          </p:cNvPr>
          <p:cNvSpPr txBox="1"/>
          <p:nvPr/>
        </p:nvSpPr>
        <p:spPr>
          <a:xfrm>
            <a:off x="9390888" y="655624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在线作品集 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5624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11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2148840"/>
            <a:ext cx="2011680" cy="2240280"/>
          </a:xfrm>
          <a:prstGeom prst="rect">
            <a:avLst/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2313432"/>
            <a:ext cx="16459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25"/>
              </a:spcAft>
              <a:defRPr sz="1700" b="0">
                <a:solidFill>
                  <a:srgbClr val="819368"/>
                </a:solidFill>
                <a:latin typeface="Noto Sans CJK SC"/>
              </a:defRPr>
            </a:pPr>
            <a:r>
              <a:rPr>
                <a:ea typeface="Noto Sans CJK SC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2862072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75"/>
              </a:spcAft>
              <a:defRPr sz="19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拆爆款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3520440"/>
            <a:ext cx="17373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拆卖点、形式、BGM、</a:t>
            </a:r>
          </a:p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节奏和用户评论。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62072" y="2148840"/>
            <a:ext cx="2011680" cy="2240280"/>
          </a:xfrm>
          <a:prstGeom prst="rect">
            <a:avLst/>
          </a:prstGeom>
          <a:solidFill>
            <a:srgbClr val="F5F4EF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08376" y="2313432"/>
            <a:ext cx="16459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25"/>
              </a:spcAft>
              <a:defRPr sz="1700" b="0">
                <a:solidFill>
                  <a:srgbClr val="819368"/>
                </a:solidFill>
                <a:latin typeface="Noto Sans CJK SC"/>
              </a:defRPr>
            </a:pPr>
            <a:r>
              <a:rPr>
                <a:ea typeface="Noto Sans CJK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08376" y="2862072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75"/>
              </a:spcAft>
              <a:defRPr sz="19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分平台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08376" y="3520440"/>
            <a:ext cx="17373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抖音重钩子与演示；</a:t>
            </a:r>
          </a:p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小红书重搜索与收藏。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9784" y="2148840"/>
            <a:ext cx="2011680" cy="2240280"/>
          </a:xfrm>
          <a:prstGeom prst="rect">
            <a:avLst/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76088" y="2313432"/>
            <a:ext cx="16459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25"/>
              </a:spcAft>
              <a:defRPr sz="1700" b="0">
                <a:solidFill>
                  <a:srgbClr val="819368"/>
                </a:solidFill>
                <a:latin typeface="Noto Sans CJK SC"/>
              </a:defRPr>
            </a:pPr>
            <a:r>
              <a:rPr>
                <a:ea typeface="Noto Sans CJK SC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6088" y="2862072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75"/>
              </a:spcAft>
              <a:defRPr sz="19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写任务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76088" y="3520440"/>
            <a:ext cx="17373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给标题、画面顺序、</a:t>
            </a:r>
          </a:p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口播和拍摄注意点。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97496" y="2148840"/>
            <a:ext cx="2011680" cy="2240280"/>
          </a:xfrm>
          <a:prstGeom prst="rect">
            <a:avLst/>
          </a:prstGeom>
          <a:solidFill>
            <a:srgbClr val="F5F4EF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43800" y="2313432"/>
            <a:ext cx="16459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25"/>
              </a:spcAft>
              <a:defRPr sz="1700" b="0">
                <a:solidFill>
                  <a:srgbClr val="819368"/>
                </a:solidFill>
                <a:latin typeface="Noto Sans CJK SC"/>
              </a:defRPr>
            </a:pPr>
            <a:r>
              <a:rPr>
                <a:ea typeface="Noto Sans CJK S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3800" y="2862072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75"/>
              </a:spcAft>
              <a:defRPr sz="19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先做 Demo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0" y="3520440"/>
            <a:ext cx="17373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用自孵化账号先发布，</a:t>
            </a:r>
          </a:p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验证表达和制作方式。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65208" y="2148840"/>
            <a:ext cx="2011680" cy="2240280"/>
          </a:xfrm>
          <a:prstGeom prst="rect">
            <a:avLst/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11512" y="2313432"/>
            <a:ext cx="16459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25"/>
              </a:spcAft>
              <a:defRPr sz="1700" b="0">
                <a:solidFill>
                  <a:srgbClr val="819368"/>
                </a:solidFill>
                <a:latin typeface="Noto Sans CJK SC"/>
              </a:defRPr>
            </a:pPr>
            <a:r>
              <a:rPr>
                <a:ea typeface="Noto Sans CJK SC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11512" y="2862072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75"/>
              </a:spcAft>
              <a:defRPr sz="19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看反馈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11512" y="3520440"/>
            <a:ext cx="17373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跟踪参与、传播与问询，</a:t>
            </a:r>
          </a:p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更新任务与节点 SOP。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49560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00"/>
              </a:spcAft>
              <a:defRPr sz="20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例：照片中转站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94176" y="4965192"/>
            <a:ext cx="78638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75"/>
              </a:spcAft>
              <a:defRPr sz="15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准备同主题照片 → 保存主体 → 添加至新照片 → 调整排版 → 展示完成效果。</a:t>
            </a:r>
          </a:p>
          <a:p>
            <a:pPr marL="0">
              <a:lnSpc>
                <a:spcPct val="120000"/>
              </a:lnSpc>
              <a:spcAft>
                <a:spcPts val="375"/>
              </a:spcAft>
              <a:defRPr sz="15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把“做一条种草内容”，拆成每一步都看得见的操作。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25"/>
              </a:spcAft>
              <a:defRPr sz="9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03 / 拍客科技 · BLUETTI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55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00"/>
              </a:spcAft>
              <a:defRPr sz="28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一度电，不只是一组参数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09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Elite 100 Mini 美国市场推广｜传播策略、达人合作与创作场景表达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CCD3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74536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董冉 / CONTENT &amp; STRATEGY</a:t>
            </a:r>
          </a:p>
        </p:txBody>
      </p:sp>
      <p:sp>
        <p:nvSpPr>
          <p:cNvPr id="7" name="TextBox 6">
            <a:hlinkClick r:id="rId2"/>
          </p:cNvPr>
          <p:cNvSpPr txBox="1"/>
          <p:nvPr/>
        </p:nvSpPr>
        <p:spPr>
          <a:xfrm>
            <a:off x="9390888" y="655624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在线作品集 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5624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576072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25"/>
              </a:spcAft>
              <a:defRPr sz="2900" b="0">
                <a:solidFill>
                  <a:srgbClr val="153D58"/>
                </a:solidFill>
                <a:latin typeface="Noto Serif CJK SC"/>
              </a:defRPr>
            </a:pPr>
            <a:r>
              <a:rPr>
                <a:ea typeface="Noto Serif CJK SC"/>
              </a:rPr>
              <a:t>If you had 1kWh,</a:t>
            </a:r>
          </a:p>
          <a:p>
            <a:pPr marL="0">
              <a:lnSpc>
                <a:spcPct val="120000"/>
              </a:lnSpc>
              <a:spcAft>
                <a:spcPts val="725"/>
              </a:spcAft>
              <a:defRPr sz="2900" b="0">
                <a:solidFill>
                  <a:srgbClr val="153D58"/>
                </a:solidFill>
                <a:latin typeface="Noto Serif CJK SC"/>
              </a:defRPr>
            </a:pPr>
            <a:r>
              <a:rPr>
                <a:ea typeface="Noto Serif CJK SC"/>
              </a:rPr>
              <a:t>what would you do with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675887"/>
            <a:ext cx="56692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00"/>
              </a:spcAft>
              <a:defRPr sz="16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从常见的参数与露营表达，延展到离网创作。</a:t>
            </a:r>
          </a:p>
          <a:p>
            <a:pPr marL="0">
              <a:lnSpc>
                <a:spcPct val="120000"/>
              </a:lnSpc>
              <a:spcAft>
                <a:spcPts val="400"/>
              </a:spcAft>
              <a:defRPr sz="16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让用户看到：能支持什么体验、能持续多久。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6288" y="201168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25"/>
              </a:spcAft>
              <a:defRPr sz="29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88" y="2569464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62"/>
              </a:spcAft>
              <a:defRPr sz="10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推进达人合作 / 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08008" y="201168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25"/>
              </a:spcAft>
              <a:defRPr sz="29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14W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08008" y="2569464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62"/>
              </a:spcAft>
              <a:defRPr sz="10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合作内容累计曝光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347472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25"/>
              </a:spcAft>
              <a:defRPr sz="29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+20%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76288" y="4032504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62"/>
              </a:spcAft>
              <a:defRPr sz="10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较达人历史均值播放提升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08008" y="347472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25"/>
              </a:spcAft>
              <a:defRPr sz="29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$0.85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08008" y="4032504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62"/>
              </a:spcAft>
              <a:defRPr sz="10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CPE 约值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4360" y="5029200"/>
            <a:ext cx="10972800" cy="0"/>
          </a:xfrm>
          <a:prstGeom prst="line">
            <a:avLst/>
          </a:prstGeom>
          <a:ln w="8890">
            <a:solidFill>
              <a:srgbClr val="CCD3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94360" y="526694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75"/>
              </a:spcAft>
              <a:defRPr sz="19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我的参与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5257800"/>
            <a:ext cx="8641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50"/>
              </a:spcAft>
              <a:defRPr sz="14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竞品与场景调研、传播概念；TikTok 达人筛选、英文 Brief、脚本审核与发布复盘。</a:t>
            </a:r>
          </a:p>
          <a:p>
            <a:pPr marL="0">
              <a:lnSpc>
                <a:spcPct val="120000"/>
              </a:lnSpc>
              <a:spcAft>
                <a:spcPts val="350"/>
              </a:spcAft>
              <a:defRPr sz="14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Brief 结构：前三秒钩子 → 场景演示 → 体验结果 → 互动引导。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25"/>
              </a:spcAft>
              <a:defRPr sz="9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03 / BLUETTI · 一度电的创作现场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55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00"/>
              </a:spcAft>
              <a:defRPr sz="28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把“自由供电”，放进可以体验的创作空间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09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展区布局、空间概念与展览形式参考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CCD3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74536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董冉 / CONTENT &amp; STRATEGY</a:t>
            </a:r>
          </a:p>
        </p:txBody>
      </p:sp>
      <p:sp>
        <p:nvSpPr>
          <p:cNvPr id="7" name="TextBox 6">
            <a:hlinkClick r:id="rId2"/>
          </p:cNvPr>
          <p:cNvSpPr txBox="1"/>
          <p:nvPr/>
        </p:nvSpPr>
        <p:spPr>
          <a:xfrm>
            <a:off x="9390888" y="655624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在线作品集 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5624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13</a:t>
            </a:r>
          </a:p>
        </p:txBody>
      </p:sp>
      <p:pic>
        <p:nvPicPr>
          <p:cNvPr id="9" name="Picture 8" descr="exhibition-lay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398804"/>
            <a:ext cx="3456432" cy="154832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4517136"/>
            <a:ext cx="345643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展区布局与体验动线</a:t>
            </a:r>
          </a:p>
        </p:txBody>
      </p:sp>
      <p:pic>
        <p:nvPicPr>
          <p:cNvPr id="11" name="Picture 10" descr="creative-mood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6552" y="2292798"/>
            <a:ext cx="3456432" cy="176033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16552" y="4517136"/>
            <a:ext cx="345643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自然、创作与能源的空间概念</a:t>
            </a:r>
          </a:p>
        </p:txBody>
      </p:sp>
      <p:pic>
        <p:nvPicPr>
          <p:cNvPr id="13" name="Picture 12" descr="gallery-refere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8744" y="2385955"/>
            <a:ext cx="3456432" cy="157402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38744" y="4517136"/>
            <a:ext cx="3456432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摄影与平面作品展示参考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5166360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25"/>
              </a:spcAft>
              <a:defRPr sz="29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724144"/>
            <a:ext cx="22860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62"/>
              </a:spcAft>
              <a:defRPr sz="10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完成作品筛选 / 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01568" y="5166360"/>
            <a:ext cx="2834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25"/>
              </a:spcAft>
              <a:defRPr sz="29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01568" y="5724144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62"/>
              </a:spcAft>
              <a:defRPr sz="10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推动核心物料按期落地 / 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12864" y="525780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50"/>
              </a:spcAft>
              <a:defRPr sz="14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参与展陈叙事、作品筛选与空间内容规划，</a:t>
            </a:r>
          </a:p>
          <a:p>
            <a:pPr marL="0">
              <a:lnSpc>
                <a:spcPct val="120000"/>
              </a:lnSpc>
              <a:spcAft>
                <a:spcPts val="350"/>
              </a:spcAft>
              <a:defRPr sz="14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协调客户与供应商，推进采购、排期与物料。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25"/>
              </a:spcAft>
              <a:defRPr sz="9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04 / 百万咕噜 · 独立运营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55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00"/>
              </a:spcAft>
              <a:defRPr sz="28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我的账号，也是我的内容实验室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09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生活方式内容｜选题、拍摄、剪辑和发布，全部独立完成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CCD3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74536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董冉 / CONTENT &amp; STRATEGY</a:t>
            </a:r>
          </a:p>
        </p:txBody>
      </p:sp>
      <p:sp>
        <p:nvSpPr>
          <p:cNvPr id="7" name="TextBox 6">
            <a:hlinkClick r:id="rId2"/>
          </p:cNvPr>
          <p:cNvSpPr txBox="1"/>
          <p:nvPr/>
        </p:nvSpPr>
        <p:spPr>
          <a:xfrm>
            <a:off x="9390888" y="655624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在线作品集 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5624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14</a:t>
            </a:r>
          </a:p>
        </p:txBody>
      </p:sp>
      <p:pic>
        <p:nvPicPr>
          <p:cNvPr id="9" name="Picture 8" descr="note-13-cle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1817" y="1984248"/>
            <a:ext cx="2171204" cy="40782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43400" y="210312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25"/>
              </a:spcAft>
              <a:defRPr sz="29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0 → 4400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660903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62"/>
              </a:spcAft>
              <a:defRPr sz="10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个人账号粉丝增长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103120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25"/>
              </a:spcAft>
              <a:defRPr sz="29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70+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660903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62"/>
              </a:spcAft>
              <a:defRPr sz="10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一年产出笔记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3611879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25"/>
              </a:spcAft>
              <a:defRPr sz="29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4169663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62"/>
              </a:spcAft>
              <a:defRPr sz="10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点赞 500+ 的内容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3611879"/>
            <a:ext cx="3383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25"/>
              </a:spcAft>
              <a:defRPr sz="2900" b="0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10+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169663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62"/>
              </a:spcAft>
              <a:defRPr sz="105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达成合作的品牌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5148072"/>
            <a:ext cx="70408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00"/>
              </a:spcAft>
              <a:defRPr sz="16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围绕旅行、校园、开箱与日常记录，</a:t>
            </a:r>
          </a:p>
          <a:p>
            <a:pPr marL="0">
              <a:lnSpc>
                <a:spcPct val="120000"/>
              </a:lnSpc>
              <a:spcAft>
                <a:spcPts val="400"/>
              </a:spcAft>
              <a:defRPr sz="16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测试选题、标题、封面、BGM 与发布节奏。</a:t>
            </a:r>
          </a:p>
        </p:txBody>
      </p:sp>
      <p:sp>
        <p:nvSpPr>
          <p:cNvPr id="19" name="Rounded Rectangle 18">
            <a:hlinkClick r:id="rId4"/>
          </p:cNvPr>
          <p:cNvSpPr/>
          <p:nvPr/>
        </p:nvSpPr>
        <p:spPr>
          <a:xfrm>
            <a:off x="594360" y="5989320"/>
            <a:ext cx="2194560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>
            <a:hlinkClick r:id="rId4"/>
          </p:cNvPr>
          <p:cNvSpPr txBox="1"/>
          <p:nvPr/>
        </p:nvSpPr>
        <p:spPr>
          <a:xfrm>
            <a:off x="704088" y="6039612"/>
            <a:ext cx="1993391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打开小红书主页 ↗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25"/>
              </a:spcAft>
              <a:defRPr sz="9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04 / 百万咕噜 · 代表内容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55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00"/>
              </a:spcAft>
              <a:defRPr sz="28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热点参与，与自己真正能讲的经验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09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生日视频 × Jennie 拍摄热点 / HKU 校园 × 学姐经验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CCD3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74536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董冉 / CONTENT &amp; STRATEGY</a:t>
            </a:r>
          </a:p>
        </p:txBody>
      </p:sp>
      <p:sp>
        <p:nvSpPr>
          <p:cNvPr id="7" name="TextBox 6">
            <a:hlinkClick r:id="rId2"/>
          </p:cNvPr>
          <p:cNvSpPr txBox="1"/>
          <p:nvPr/>
        </p:nvSpPr>
        <p:spPr>
          <a:xfrm>
            <a:off x="9390888" y="655624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在线作品集 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5624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15</a:t>
            </a:r>
          </a:p>
        </p:txBody>
      </p:sp>
      <p:pic>
        <p:nvPicPr>
          <p:cNvPr id="9" name="Picture 8" descr="note-1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578" y="1956816"/>
            <a:ext cx="1821243" cy="3337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834640" y="2057400"/>
            <a:ext cx="30632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25"/>
              </a:spcAft>
              <a:defRPr sz="21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跟着 Jennie 拍生日视频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990088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50"/>
              </a:spcAft>
              <a:defRPr sz="14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用热门形式记录自己的生日，</a:t>
            </a:r>
          </a:p>
          <a:p>
            <a:pPr marL="0">
              <a:lnSpc>
                <a:spcPct val="120000"/>
              </a:lnSpc>
              <a:spcAft>
                <a:spcPts val="350"/>
              </a:spcAft>
              <a:defRPr sz="14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亲自反复拍摄并完成剪辑。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4169663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650"/>
              </a:spcAft>
              <a:defRPr sz="2600" b="0">
                <a:solidFill>
                  <a:srgbClr val="819368"/>
                </a:solidFill>
                <a:latin typeface="Noto Sans CJK SC"/>
              </a:defRPr>
            </a:pPr>
            <a:r>
              <a:rPr>
                <a:ea typeface="Noto Sans CJK SC"/>
              </a:rPr>
              <a:t>3232 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4773168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25"/>
              </a:spcAft>
              <a:defRPr sz="13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1033 收藏</a:t>
            </a:r>
          </a:p>
        </p:txBody>
      </p:sp>
      <p:sp>
        <p:nvSpPr>
          <p:cNvPr id="14" name="Rounded Rectangle 13">
            <a:hlinkClick r:id="rId4"/>
          </p:cNvPr>
          <p:cNvSpPr/>
          <p:nvPr/>
        </p:nvSpPr>
        <p:spPr>
          <a:xfrm>
            <a:off x="594360" y="5715000"/>
            <a:ext cx="2011680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>
            <a:hlinkClick r:id="rId4"/>
          </p:cNvPr>
          <p:cNvSpPr txBox="1"/>
          <p:nvPr/>
        </p:nvSpPr>
        <p:spPr>
          <a:xfrm>
            <a:off x="704088" y="5765292"/>
            <a:ext cx="1810512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查看完整笔记 ↗</a:t>
            </a:r>
          </a:p>
        </p:txBody>
      </p:sp>
      <p:pic>
        <p:nvPicPr>
          <p:cNvPr id="16" name="Picture 15" descr="note-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0693" y="1956816"/>
            <a:ext cx="1831893" cy="33375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641080" y="2057400"/>
            <a:ext cx="30632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25"/>
              </a:spcAft>
              <a:defRPr sz="21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PPE 学姐建议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41080" y="2990088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50"/>
              </a:spcAft>
              <a:defRPr sz="14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把在校经历变成具体建议，</a:t>
            </a:r>
          </a:p>
          <a:p>
            <a:pPr marL="0">
              <a:lnSpc>
                <a:spcPct val="120000"/>
              </a:lnSpc>
              <a:spcAft>
                <a:spcPts val="350"/>
              </a:spcAft>
              <a:defRPr sz="14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从自己的经验出发组织内容。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4169663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650"/>
              </a:spcAft>
              <a:defRPr sz="2600" b="0">
                <a:solidFill>
                  <a:srgbClr val="819368"/>
                </a:solidFill>
                <a:latin typeface="Noto Sans CJK SC"/>
              </a:defRPr>
            </a:pPr>
            <a:r>
              <a:rPr>
                <a:ea typeface="Noto Sans CJK SC"/>
              </a:rPr>
              <a:t>1564 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4773168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25"/>
              </a:spcAft>
              <a:defRPr sz="13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226 收藏</a:t>
            </a:r>
          </a:p>
        </p:txBody>
      </p:sp>
      <p:sp>
        <p:nvSpPr>
          <p:cNvPr id="21" name="Rounded Rectangle 20">
            <a:hlinkClick r:id="rId6"/>
          </p:cNvPr>
          <p:cNvSpPr/>
          <p:nvPr/>
        </p:nvSpPr>
        <p:spPr>
          <a:xfrm>
            <a:off x="6400800" y="5715000"/>
            <a:ext cx="2011680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>
            <a:hlinkClick r:id="rId6"/>
          </p:cNvPr>
          <p:cNvSpPr txBox="1"/>
          <p:nvPr/>
        </p:nvSpPr>
        <p:spPr>
          <a:xfrm>
            <a:off x="6510528" y="5765292"/>
            <a:ext cx="1810512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查看完整笔记 ↗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25"/>
              </a:spcAft>
              <a:defRPr sz="9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04 / 百万咕噜 · 代表内容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55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00"/>
              </a:spcAft>
              <a:defRPr sz="28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把普通经历，拍成愿意看完的记录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09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旅行 / 开箱 / 城市日常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CCD3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74536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董冉 / CONTENT &amp; STRATEGY</a:t>
            </a:r>
          </a:p>
        </p:txBody>
      </p:sp>
      <p:sp>
        <p:nvSpPr>
          <p:cNvPr id="7" name="TextBox 6">
            <a:hlinkClick r:id="rId2"/>
          </p:cNvPr>
          <p:cNvSpPr txBox="1"/>
          <p:nvPr/>
        </p:nvSpPr>
        <p:spPr>
          <a:xfrm>
            <a:off x="9390888" y="655624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在线作品集 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5624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16</a:t>
            </a:r>
          </a:p>
        </p:txBody>
      </p:sp>
      <p:pic>
        <p:nvPicPr>
          <p:cNvPr id="9" name="Picture 8" descr="note-1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7964" y="1947672"/>
            <a:ext cx="1554822" cy="2788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4855464"/>
            <a:ext cx="25420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25"/>
              </a:spcAft>
              <a:defRPr sz="17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独自出发台湾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376672"/>
            <a:ext cx="25420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10549 浏览 · 930 赞</a:t>
            </a:r>
          </a:p>
        </p:txBody>
      </p:sp>
      <p:sp>
        <p:nvSpPr>
          <p:cNvPr id="12" name="Rounded Rectangle 11">
            <a:hlinkClick r:id="rId4"/>
          </p:cNvPr>
          <p:cNvSpPr/>
          <p:nvPr/>
        </p:nvSpPr>
        <p:spPr>
          <a:xfrm>
            <a:off x="594360" y="5833872"/>
            <a:ext cx="1600200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>
            <a:hlinkClick r:id="rId4"/>
          </p:cNvPr>
          <p:cNvSpPr txBox="1"/>
          <p:nvPr/>
        </p:nvSpPr>
        <p:spPr>
          <a:xfrm>
            <a:off x="704088" y="5884164"/>
            <a:ext cx="1399032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查看笔记 ↗</a:t>
            </a:r>
          </a:p>
        </p:txBody>
      </p:sp>
      <p:pic>
        <p:nvPicPr>
          <p:cNvPr id="14" name="Picture 13" descr="note-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2218" y="1947672"/>
            <a:ext cx="1532170" cy="2788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447288" y="4855464"/>
            <a:ext cx="25420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25"/>
              </a:spcAft>
              <a:defRPr sz="17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盲盒开箱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7288" y="5376672"/>
            <a:ext cx="25420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7726 浏览 · 556 赞</a:t>
            </a:r>
          </a:p>
        </p:txBody>
      </p:sp>
      <p:sp>
        <p:nvSpPr>
          <p:cNvPr id="17" name="Rounded Rectangle 16">
            <a:hlinkClick r:id="rId6"/>
          </p:cNvPr>
          <p:cNvSpPr/>
          <p:nvPr/>
        </p:nvSpPr>
        <p:spPr>
          <a:xfrm>
            <a:off x="3447288" y="5833872"/>
            <a:ext cx="1600200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>
            <a:hlinkClick r:id="rId6"/>
          </p:cNvPr>
          <p:cNvSpPr txBox="1"/>
          <p:nvPr/>
        </p:nvSpPr>
        <p:spPr>
          <a:xfrm>
            <a:off x="3557016" y="5884164"/>
            <a:ext cx="1399032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查看笔记 ↗</a:t>
            </a:r>
          </a:p>
        </p:txBody>
      </p:sp>
      <p:pic>
        <p:nvPicPr>
          <p:cNvPr id="19" name="Picture 18" descr="note-4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06490" y="1947672"/>
            <a:ext cx="1529482" cy="2788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300216" y="4855464"/>
            <a:ext cx="25420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25"/>
              </a:spcAft>
              <a:defRPr sz="17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澳门旅行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5376672"/>
            <a:ext cx="25420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5449 浏览 · 404 赞</a:t>
            </a:r>
          </a:p>
        </p:txBody>
      </p:sp>
      <p:sp>
        <p:nvSpPr>
          <p:cNvPr id="22" name="Rounded Rectangle 21">
            <a:hlinkClick r:id="rId8"/>
          </p:cNvPr>
          <p:cNvSpPr/>
          <p:nvPr/>
        </p:nvSpPr>
        <p:spPr>
          <a:xfrm>
            <a:off x="6300216" y="5833872"/>
            <a:ext cx="1600200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>
            <a:hlinkClick r:id="rId8"/>
          </p:cNvPr>
          <p:cNvSpPr txBox="1"/>
          <p:nvPr/>
        </p:nvSpPr>
        <p:spPr>
          <a:xfrm>
            <a:off x="6409944" y="5884164"/>
            <a:ext cx="1399032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查看笔记 ↗</a:t>
            </a:r>
          </a:p>
        </p:txBody>
      </p:sp>
      <p:pic>
        <p:nvPicPr>
          <p:cNvPr id="24" name="Picture 23" descr="note-2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59159" y="1947672"/>
            <a:ext cx="1530000" cy="27889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53144" y="4855464"/>
            <a:ext cx="25420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25"/>
              </a:spcAft>
              <a:defRPr sz="17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香港的普通一天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5376672"/>
            <a:ext cx="25420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10469 浏览 · 648 赞</a:t>
            </a:r>
          </a:p>
        </p:txBody>
      </p:sp>
      <p:sp>
        <p:nvSpPr>
          <p:cNvPr id="27" name="Rounded Rectangle 26">
            <a:hlinkClick r:id="rId10"/>
          </p:cNvPr>
          <p:cNvSpPr/>
          <p:nvPr/>
        </p:nvSpPr>
        <p:spPr>
          <a:xfrm>
            <a:off x="9153144" y="5833872"/>
            <a:ext cx="1600200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>
            <a:hlinkClick r:id="rId10"/>
          </p:cNvPr>
          <p:cNvSpPr txBox="1"/>
          <p:nvPr/>
        </p:nvSpPr>
        <p:spPr>
          <a:xfrm>
            <a:off x="9262872" y="5884164"/>
            <a:ext cx="1399032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查看笔记 ↗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25"/>
              </a:spcAft>
              <a:defRPr sz="9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04 / 百万咕噜 · 创作方法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55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00"/>
              </a:spcAft>
              <a:defRPr sz="28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从反复尝试，到自己的制作习惯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09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内容是独立完成的，方法也在一次次制作里形成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CCD3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74536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董冉 / CONTENT &amp; STRATEGY</a:t>
            </a:r>
          </a:p>
        </p:txBody>
      </p:sp>
      <p:sp>
        <p:nvSpPr>
          <p:cNvPr id="7" name="TextBox 6">
            <a:hlinkClick r:id="rId2"/>
          </p:cNvPr>
          <p:cNvSpPr txBox="1"/>
          <p:nvPr/>
        </p:nvSpPr>
        <p:spPr>
          <a:xfrm>
            <a:off x="9390888" y="655624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在线作品集 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5624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17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2148840"/>
            <a:ext cx="3456432" cy="2606040"/>
          </a:xfrm>
          <a:prstGeom prst="rect">
            <a:avLst/>
          </a:prstGeom>
          <a:solidFill>
            <a:srgbClr val="F5F4EF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35000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50"/>
              </a:spcAft>
              <a:defRPr sz="1800" b="0">
                <a:solidFill>
                  <a:srgbClr val="819368"/>
                </a:solidFill>
                <a:latin typeface="Noto Sans CJK SC"/>
              </a:defRPr>
            </a:pPr>
            <a:r>
              <a:rPr>
                <a:ea typeface="Noto Sans CJK SC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30632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75"/>
              </a:spcAft>
              <a:defRPr sz="19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先把内容做出来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822191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25"/>
              </a:spcAft>
              <a:defRPr sz="13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独立选题、拍摄、剪辑与发布。</a:t>
            </a:r>
          </a:p>
          <a:p>
            <a:pPr marL="0">
              <a:lnSpc>
                <a:spcPct val="120000"/>
              </a:lnSpc>
              <a:spcAft>
                <a:spcPts val="325"/>
              </a:spcAft>
              <a:defRPr sz="13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用旅行、校园与生活记录积累表达。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16552" y="2148840"/>
            <a:ext cx="3456432" cy="2606040"/>
          </a:xfrm>
          <a:prstGeom prst="rect">
            <a:avLst/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9432" y="235000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50"/>
              </a:spcAft>
              <a:defRPr sz="1800" b="0">
                <a:solidFill>
                  <a:srgbClr val="819368"/>
                </a:solidFill>
                <a:latin typeface="Noto Sans CJK SC"/>
              </a:defRPr>
            </a:pPr>
            <a:r>
              <a:rPr>
                <a:ea typeface="Noto Sans CJK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2" y="2971800"/>
            <a:ext cx="30632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75"/>
              </a:spcAft>
              <a:defRPr sz="19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让封面与 BGM 进入测试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9432" y="3822191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25"/>
              </a:spcAft>
              <a:defRPr sz="13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尝试不同封面与音乐，观察反馈，</a:t>
            </a:r>
          </a:p>
          <a:p>
            <a:pPr marL="0">
              <a:lnSpc>
                <a:spcPct val="120000"/>
              </a:lnSpc>
              <a:spcAft>
                <a:spcPts val="325"/>
              </a:spcAft>
              <a:defRPr sz="13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整理选题方向与内容结构。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38744" y="2148840"/>
            <a:ext cx="3456432" cy="2606040"/>
          </a:xfrm>
          <a:prstGeom prst="rect">
            <a:avLst/>
          </a:prstGeom>
          <a:solidFill>
            <a:srgbClr val="F5F4EF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21624" y="235000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50"/>
              </a:spcAft>
              <a:defRPr sz="1800" b="0">
                <a:solidFill>
                  <a:srgbClr val="819368"/>
                </a:solidFill>
                <a:latin typeface="Noto Sans CJK SC"/>
              </a:defRPr>
            </a:pPr>
            <a:r>
              <a:rPr>
                <a:ea typeface="Noto Sans CJK SC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1624" y="2971800"/>
            <a:ext cx="30632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75"/>
              </a:spcAft>
              <a:defRPr sz="19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留下可复用的习惯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21624" y="3822191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25"/>
              </a:spcAft>
              <a:defRPr sz="13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四宫格封面 + 事件与场景信息；</a:t>
            </a:r>
          </a:p>
          <a:p>
            <a:pPr marL="0">
              <a:lnSpc>
                <a:spcPct val="120000"/>
              </a:lnSpc>
              <a:spcAft>
                <a:spcPts val="325"/>
              </a:spcAft>
              <a:defRPr sz="13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统一标题字体，开头加入快速 Preview。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1663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550"/>
              </a:spcAft>
              <a:defRPr sz="22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商业合作，也是一段完整交付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42432" y="5248656"/>
            <a:ext cx="57150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50"/>
              </a:spcAft>
              <a:defRPr sz="14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筛选 200+ 个品牌合作邀约，与欧莱雅、万宁等 10+ 家品牌完成合作与交付。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25"/>
              </a:spcAft>
              <a:defRPr sz="9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OFF THE CLOCK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55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00"/>
              </a:spcAft>
              <a:defRPr sz="2800" b="0">
                <a:solidFill>
                  <a:srgbClr val="283024"/>
                </a:solidFill>
                <a:latin typeface="Noto Serif CJK SC"/>
              </a:defRPr>
            </a:pPr>
            <a:r>
              <a:rPr>
                <a:ea typeface="Noto Serif CJK SC"/>
              </a:rPr>
              <a:t>工作之外，也有很多喜欢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09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00"/>
              </a:spcAft>
              <a:defRPr sz="12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旅行、拍照、听播客，和其他让生活有意思的小事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CCD3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574536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董冉 / CONTENT &amp; STRATEGY</a:t>
            </a:r>
          </a:p>
        </p:txBody>
      </p:sp>
      <p:sp>
        <p:nvSpPr>
          <p:cNvPr id="7" name="TextBox 6">
            <a:hlinkClick r:id="rId2"/>
          </p:cNvPr>
          <p:cNvSpPr txBox="1"/>
          <p:nvPr/>
        </p:nvSpPr>
        <p:spPr>
          <a:xfrm>
            <a:off x="9390888" y="655624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在线作品集 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1672" y="655624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18</a:t>
            </a:r>
          </a:p>
        </p:txBody>
      </p:sp>
      <p:pic>
        <p:nvPicPr>
          <p:cNvPr id="9" name="Picture 8" descr="destination-01.jpg"/>
          <p:cNvPicPr>
            <a:picLocks noChangeAspect="1"/>
          </p:cNvPicPr>
          <p:nvPr/>
        </p:nvPicPr>
        <p:blipFill>
          <a:blip r:embed="rId3"/>
          <a:srcRect t="22222" b="22222"/>
          <a:stretch>
            <a:fillRect/>
          </a:stretch>
        </p:blipFill>
        <p:spPr>
          <a:xfrm>
            <a:off x="594360" y="1965960"/>
            <a:ext cx="3456432" cy="2560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4645152"/>
            <a:ext cx="34564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25"/>
              </a:spcAft>
              <a:defRPr sz="13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摩洛哥 · 撒哈拉沙漠</a:t>
            </a:r>
          </a:p>
        </p:txBody>
      </p:sp>
      <p:pic>
        <p:nvPicPr>
          <p:cNvPr id="11" name="Picture 10" descr="destination-02.jpg"/>
          <p:cNvPicPr>
            <a:picLocks noChangeAspect="1"/>
          </p:cNvPicPr>
          <p:nvPr/>
        </p:nvPicPr>
        <p:blipFill>
          <a:blip r:embed="rId4"/>
          <a:srcRect t="22222" b="22222"/>
          <a:stretch>
            <a:fillRect/>
          </a:stretch>
        </p:blipFill>
        <p:spPr>
          <a:xfrm>
            <a:off x="4416552" y="1965960"/>
            <a:ext cx="3456432" cy="2560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16552" y="4645152"/>
            <a:ext cx="34564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25"/>
              </a:spcAft>
              <a:defRPr sz="13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法国 · 尼斯</a:t>
            </a:r>
          </a:p>
        </p:txBody>
      </p:sp>
      <p:pic>
        <p:nvPicPr>
          <p:cNvPr id="13" name="Picture 12" descr="destination-03.jpg"/>
          <p:cNvPicPr>
            <a:picLocks noChangeAspect="1"/>
          </p:cNvPicPr>
          <p:nvPr/>
        </p:nvPicPr>
        <p:blipFill>
          <a:blip r:embed="rId5"/>
          <a:srcRect t="22222" b="22222"/>
          <a:stretch>
            <a:fillRect/>
          </a:stretch>
        </p:blipFill>
        <p:spPr>
          <a:xfrm>
            <a:off x="8238744" y="1965960"/>
            <a:ext cx="3456432" cy="2560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38744" y="4645152"/>
            <a:ext cx="34564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25"/>
              </a:spcAft>
              <a:defRPr sz="13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挪威 · 奥斯陆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5285232"/>
            <a:ext cx="8503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325"/>
              </a:spcAft>
              <a:defRPr sz="13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网球 / 古筝 / 羽毛球 / 速写 / 阅读 / 拍摄剪辑 / 烘焙 / hiphop / R&amp;B</a:t>
            </a:r>
          </a:p>
          <a:p>
            <a:pPr marL="0">
              <a:lnSpc>
                <a:spcPct val="120000"/>
              </a:lnSpc>
              <a:spcAft>
                <a:spcPts val="325"/>
              </a:spcAft>
              <a:defRPr sz="1300" b="0">
                <a:solidFill>
                  <a:srgbClr val="75806B"/>
                </a:solidFill>
                <a:latin typeface="Noto Sans CJK SC"/>
              </a:defRPr>
            </a:pPr>
            <a:r>
              <a:rPr>
                <a:ea typeface="Noto Sans CJK SC"/>
              </a:rPr>
              <a:t>游泳 / 冥想 / 手帐 / 桌游 / 旅行 / 美妆</a:t>
            </a:r>
          </a:p>
        </p:txBody>
      </p:sp>
      <p:sp>
        <p:nvSpPr>
          <p:cNvPr id="16" name="Rounded Rectangle 15">
            <a:hlinkClick r:id="rId6"/>
          </p:cNvPr>
          <p:cNvSpPr/>
          <p:nvPr/>
        </p:nvSpPr>
        <p:spPr>
          <a:xfrm>
            <a:off x="9326880" y="5596128"/>
            <a:ext cx="2148840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>
            <a:hlinkClick r:id="rId6"/>
          </p:cNvPr>
          <p:cNvSpPr txBox="1"/>
          <p:nvPr/>
        </p:nvSpPr>
        <p:spPr>
          <a:xfrm>
            <a:off x="9436607" y="5646420"/>
            <a:ext cx="1947672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去生活页逛逛 ↗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28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25"/>
              </a:spcAft>
              <a:defRPr sz="900" b="0">
                <a:solidFill>
                  <a:srgbClr val="AAB79D"/>
                </a:solidFill>
                <a:latin typeface="Noto Sans CJK SC"/>
              </a:defRPr>
            </a:pPr>
            <a:r>
              <a:rPr>
                <a:ea typeface="Noto Sans CJK SC"/>
              </a:rPr>
              <a:t>LET’S TALK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13232"/>
            <a:ext cx="1115568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700"/>
              </a:spcAft>
              <a:defRPr sz="2800" b="0">
                <a:solidFill>
                  <a:srgbClr val="F8F7F0"/>
                </a:solidFill>
                <a:latin typeface="Noto Serif CJK SC"/>
              </a:defRPr>
            </a:pPr>
          </a:p>
        </p:txBody>
      </p:sp>
      <p:cxnSp>
        <p:nvCxnSpPr>
          <p:cNvPr id="4" name="Connector 3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8890">
            <a:solidFill>
              <a:srgbClr val="526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02920" y="6574536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AAB79D"/>
                </a:solidFill>
                <a:latin typeface="Noto Sans CJK SC"/>
              </a:defRPr>
            </a:pPr>
            <a:r>
              <a:rPr>
                <a:ea typeface="Noto Sans CJK SC"/>
              </a:rPr>
              <a:t>董冉 / CONTENT &amp; STRATEGY</a:t>
            </a:r>
          </a:p>
        </p:txBody>
      </p:sp>
      <p:sp>
        <p:nvSpPr>
          <p:cNvPr id="6" name="TextBox 5">
            <a:hlinkClick r:id="rId2"/>
          </p:cNvPr>
          <p:cNvSpPr txBox="1"/>
          <p:nvPr/>
        </p:nvSpPr>
        <p:spPr>
          <a:xfrm>
            <a:off x="9390888" y="6556248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AAB79D"/>
                </a:solidFill>
                <a:latin typeface="Noto Sans CJK SC"/>
              </a:defRPr>
            </a:pPr>
            <a:r>
              <a:rPr>
                <a:ea typeface="Noto Sans CJK SC"/>
              </a:rPr>
              <a:t>在线作品集 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1672" y="6556248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00"/>
              </a:spcAft>
              <a:defRPr sz="800" b="0">
                <a:solidFill>
                  <a:srgbClr val="AAB79D"/>
                </a:solidFill>
                <a:latin typeface="Noto Sans CJK SC"/>
              </a:defRPr>
            </a:pPr>
            <a:r>
              <a:rPr>
                <a:ea typeface="Noto Sans CJK SC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17320"/>
            <a:ext cx="107899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975"/>
              </a:spcAft>
              <a:defRPr sz="3900" b="0">
                <a:solidFill>
                  <a:srgbClr val="F8F7F0"/>
                </a:solidFill>
                <a:latin typeface="Noto Serif CJK SC"/>
              </a:defRPr>
            </a:pPr>
            <a:r>
              <a:rPr>
                <a:ea typeface="Noto Serif CJK SC"/>
              </a:rPr>
              <a:t>谢谢你看到这里。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88920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450"/>
              </a:spcAft>
              <a:defRPr sz="1800" b="0">
                <a:solidFill>
                  <a:srgbClr val="C9D3BD"/>
                </a:solidFill>
                <a:latin typeface="Noto Sans CJK SC"/>
              </a:defRPr>
            </a:pPr>
            <a:r>
              <a:rPr>
                <a:ea typeface="Noto Sans CJK SC"/>
              </a:rPr>
              <a:t>董冉 / 内容策划与品牌传播</a:t>
            </a:r>
          </a:p>
        </p:txBody>
      </p:sp>
      <p:sp>
        <p:nvSpPr>
          <p:cNvPr id="10" name="TextBox 9">
            <a:hlinkClick r:id="rId3"/>
          </p:cNvPr>
          <p:cNvSpPr txBox="1"/>
          <p:nvPr/>
        </p:nvSpPr>
        <p:spPr>
          <a:xfrm>
            <a:off x="777240" y="4617720"/>
            <a:ext cx="94183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675"/>
              </a:spcAft>
              <a:defRPr sz="2700" b="0">
                <a:solidFill>
                  <a:srgbClr val="F8F7F0"/>
                </a:solidFill>
                <a:latin typeface="Noto Sans CJK SC"/>
              </a:defRPr>
            </a:pPr>
            <a:r>
              <a:rPr>
                <a:ea typeface="Noto Sans CJK SC"/>
              </a:rPr>
              <a:t>dongran2022@163.com</a:t>
            </a:r>
          </a:p>
        </p:txBody>
      </p:sp>
      <p:sp>
        <p:nvSpPr>
          <p:cNvPr id="11" name="TextBox 10">
            <a:hlinkClick r:id="rId4"/>
          </p:cNvPr>
          <p:cNvSpPr txBox="1"/>
          <p:nvPr/>
        </p:nvSpPr>
        <p:spPr>
          <a:xfrm>
            <a:off x="777240" y="5376672"/>
            <a:ext cx="94183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675"/>
              </a:spcAft>
              <a:defRPr sz="2700" b="0">
                <a:solidFill>
                  <a:srgbClr val="F8F7F0"/>
                </a:solidFill>
                <a:latin typeface="Noto Sans CJK SC"/>
              </a:defRPr>
            </a:pPr>
            <a:r>
              <a:rPr>
                <a:ea typeface="Noto Sans CJK SC"/>
              </a:rPr>
              <a:t>+86 18375410209</a:t>
            </a:r>
          </a:p>
        </p:txBody>
      </p:sp>
      <p:sp>
        <p:nvSpPr>
          <p:cNvPr id="12" name="Rounded Rectangle 11">
            <a:hlinkClick r:id="rId2"/>
          </p:cNvPr>
          <p:cNvSpPr/>
          <p:nvPr/>
        </p:nvSpPr>
        <p:spPr>
          <a:xfrm>
            <a:off x="8979408" y="5376672"/>
            <a:ext cx="2331720" cy="356616"/>
          </a:xfrm>
          <a:prstGeom prst="roundRect">
            <a:avLst>
              <a:gd name="adj" fmla="val 12000"/>
            </a:avLst>
          </a:prstGeom>
          <a:solidFill>
            <a:srgbClr val="E8ECD9"/>
          </a:solidFill>
          <a:ln w="7620">
            <a:solidFill>
              <a:srgbClr val="CCD3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>
            <a:hlinkClick r:id="rId2"/>
          </p:cNvPr>
          <p:cNvSpPr txBox="1"/>
          <p:nvPr/>
        </p:nvSpPr>
        <p:spPr>
          <a:xfrm>
            <a:off x="9089136" y="5426964"/>
            <a:ext cx="2130551" cy="265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>
              <a:lnSpc>
                <a:spcPct val="120000"/>
              </a:lnSpc>
              <a:spcAft>
                <a:spcPts val="275"/>
              </a:spcAft>
              <a:defRPr sz="1100" b="1">
                <a:solidFill>
                  <a:srgbClr val="283024"/>
                </a:solidFill>
                <a:latin typeface="Noto Sans CJK SC"/>
              </a:defRPr>
            </a:pPr>
            <a:r>
              <a:rPr>
                <a:ea typeface="Noto Sans CJK SC"/>
              </a:rPr>
              <a:t>完整在线作品集 ↗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董冉｜内容策划与品牌传播作品集</dc:title>
  <dc:subject>OPPO / 拍客 KOS / BLUETTI / 百万咕噜</dc:subject>
  <dc:creator>董冉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